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13503fe2294e17" /><Relationship Type="http://schemas.openxmlformats.org/officeDocument/2006/relationships/extended-properties" Target="/docProps/app.xml" Id="R854d41e534084f2e" /><Relationship Type="http://schemas.openxmlformats.org/officeDocument/2006/relationships/officeDocument" Target="/ppt/presentation.xml" Id="R8309a91916904d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f61cde8f304b93"/>
  </p:sldMasterIdLst>
  <p:notesMasterIdLst>
    <p:notesMasterId xmlns:r="http://schemas.openxmlformats.org/officeDocument/2006/relationships" r:id="Refacad1006a646df"/>
  </p:notesMasterIdLst>
  <p:sldIdLst>
    <p:sldId xmlns:r="http://schemas.openxmlformats.org/officeDocument/2006/relationships" id="256" r:id="R2c4010ca7abe45f6"/>
    <p:sldId xmlns:r="http://schemas.openxmlformats.org/officeDocument/2006/relationships" id="257" r:id="R079ed87f3f7b472d"/>
    <p:sldId xmlns:r="http://schemas.openxmlformats.org/officeDocument/2006/relationships" id="258" r:id="Rdd4b4291f8a54c9a"/>
    <p:sldId xmlns:r="http://schemas.openxmlformats.org/officeDocument/2006/relationships" id="259" r:id="R83485c06bb684374"/>
    <p:sldId xmlns:r="http://schemas.openxmlformats.org/officeDocument/2006/relationships" id="260" r:id="Rf77ab256212a4a3d"/>
    <p:sldId xmlns:r="http://schemas.openxmlformats.org/officeDocument/2006/relationships" id="261" r:id="R83d50a6570974aae"/>
    <p:sldId xmlns:r="http://schemas.openxmlformats.org/officeDocument/2006/relationships" id="262" r:id="Rfce46f175c1d4184"/>
    <p:sldId xmlns:r="http://schemas.openxmlformats.org/officeDocument/2006/relationships" id="263" r:id="Rc5034f76950f419d"/>
    <p:sldId xmlns:r="http://schemas.openxmlformats.org/officeDocument/2006/relationships" id="264" r:id="R7647db0b8e764a7a"/>
    <p:sldId xmlns:r="http://schemas.openxmlformats.org/officeDocument/2006/relationships" id="265" r:id="R4b73b2d3a3404610"/>
    <p:sldId xmlns:r="http://schemas.openxmlformats.org/officeDocument/2006/relationships" id="266" r:id="Ra6503d3fa26f4b11"/>
    <p:sldId xmlns:r="http://schemas.openxmlformats.org/officeDocument/2006/relationships" id="267" r:id="R901ad03835b740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492bea8f524b1f" /><Relationship Type="http://schemas.openxmlformats.org/officeDocument/2006/relationships/slideMaster" Target="/ppt/slideMasters/slideMaster1.xml" Id="Rebf61cde8f304b93" /><Relationship Type="http://schemas.openxmlformats.org/officeDocument/2006/relationships/notesMaster" Target="/ppt/notesMasters/notesMaster1.xml" Id="Refacad1006a646df" /><Relationship Type="http://schemas.openxmlformats.org/officeDocument/2006/relationships/presProps" Target="/ppt/presProps.xml" Id="R81f77328ec4d44ff" /><Relationship Type="http://schemas.openxmlformats.org/officeDocument/2006/relationships/viewProps" Target="/ppt/viewProps.xml" Id="R38a86b3147244f34" /><Relationship Type="http://schemas.openxmlformats.org/officeDocument/2006/relationships/tableStyles" Target="/ppt/tableStyles.xml" Id="R6bd5b5febd2a409e" /><Relationship Type="http://schemas.openxmlformats.org/officeDocument/2006/relationships/slide" Target="/ppt/slides/slide1.xml" Id="R2c4010ca7abe45f6" /><Relationship Type="http://schemas.openxmlformats.org/officeDocument/2006/relationships/slide" Target="/ppt/slides/slide2.xml" Id="R079ed87f3f7b472d" /><Relationship Type="http://schemas.openxmlformats.org/officeDocument/2006/relationships/slide" Target="/ppt/slides/slide3.xml" Id="Rdd4b4291f8a54c9a" /><Relationship Type="http://schemas.openxmlformats.org/officeDocument/2006/relationships/slide" Target="/ppt/slides/slide4.xml" Id="R83485c06bb684374" /><Relationship Type="http://schemas.openxmlformats.org/officeDocument/2006/relationships/slide" Target="/ppt/slides/slide5.xml" Id="Rf77ab256212a4a3d" /><Relationship Type="http://schemas.openxmlformats.org/officeDocument/2006/relationships/slide" Target="/ppt/slides/slide6.xml" Id="R83d50a6570974aae" /><Relationship Type="http://schemas.openxmlformats.org/officeDocument/2006/relationships/slide" Target="/ppt/slides/slide7.xml" Id="Rfce46f175c1d4184" /><Relationship Type="http://schemas.openxmlformats.org/officeDocument/2006/relationships/slide" Target="/ppt/slides/slide8.xml" Id="Rc5034f76950f419d" /><Relationship Type="http://schemas.openxmlformats.org/officeDocument/2006/relationships/slide" Target="/ppt/slides/slide9.xml" Id="R7647db0b8e764a7a" /><Relationship Type="http://schemas.openxmlformats.org/officeDocument/2006/relationships/slide" Target="/ppt/slides/slide10.xml" Id="R4b73b2d3a3404610" /><Relationship Type="http://schemas.openxmlformats.org/officeDocument/2006/relationships/slide" Target="/ppt/slides/slide11.xml" Id="Ra6503d3fa26f4b11" /><Relationship Type="http://schemas.openxmlformats.org/officeDocument/2006/relationships/slide" Target="/ppt/slides/slide12.xml" Id="R901ad03835b740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3e3e0c6e1041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e230ecbc5b4361" /><Relationship Type="http://schemas.openxmlformats.org/officeDocument/2006/relationships/notesMaster" Target="/ppt/notesMasters/notesMaster1.xml" Id="R2d0021d1f79a4d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c2b7a43ce84acd" /><Relationship Type="http://schemas.openxmlformats.org/officeDocument/2006/relationships/notesMaster" Target="/ppt/notesMasters/notesMaster1.xml" Id="R4ba4a9f8743544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3b2403233c4440" /><Relationship Type="http://schemas.openxmlformats.org/officeDocument/2006/relationships/notesMaster" Target="/ppt/notesMasters/notesMaster1.xml" Id="Rb5cb4256d31a41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83b75ffa8642c1" /><Relationship Type="http://schemas.openxmlformats.org/officeDocument/2006/relationships/notesMaster" Target="/ppt/notesMasters/notesMaster1.xml" Id="Rd104ac3101dd45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291b66490f4487" /><Relationship Type="http://schemas.openxmlformats.org/officeDocument/2006/relationships/notesMaster" Target="/ppt/notesMasters/notesMaster1.xml" Id="Ra97d7da2cd7544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f6bc7f2216436a" /><Relationship Type="http://schemas.openxmlformats.org/officeDocument/2006/relationships/notesMaster" Target="/ppt/notesMasters/notesMaster1.xml" Id="Ra5389d671a3343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cd9db2ce464534" /><Relationship Type="http://schemas.openxmlformats.org/officeDocument/2006/relationships/notesMaster" Target="/ppt/notesMasters/notesMaster1.xml" Id="R68bb333ce2044d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c6c4c0f8614228" /><Relationship Type="http://schemas.openxmlformats.org/officeDocument/2006/relationships/notesMaster" Target="/ppt/notesMasters/notesMaster1.xml" Id="Re8f8664c2daa40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e8c0cdf12f48cb" /><Relationship Type="http://schemas.openxmlformats.org/officeDocument/2006/relationships/notesMaster" Target="/ppt/notesMasters/notesMaster1.xml" Id="R46a16983a5a341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ac199d3c774e2a" /><Relationship Type="http://schemas.openxmlformats.org/officeDocument/2006/relationships/notesMaster" Target="/ppt/notesMasters/notesMaster1.xml" Id="Rfd13978bd3cf44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b5ac8527514444" /><Relationship Type="http://schemas.openxmlformats.org/officeDocument/2006/relationships/notesMaster" Target="/ppt/notesMasters/notesMaster1.xml" Id="R16ceffa04f6142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120259c7c94ca9" /><Relationship Type="http://schemas.openxmlformats.org/officeDocument/2006/relationships/notesMaster" Target="/ppt/notesMasters/notesMaster1.xml" Id="Rf85343e7aff149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Juan Valencia.</a:t>
            </a:r>
          </a:p>
          <a:p xmlns:a="http://schemas.openxmlformats.org/drawingml/2006/main">
            <a:r>
              <a:t>Abrir indicando que la propuesta responde a una necesidad real de Martini Cell y que la Fase 1 deja definida una solución realizable, trazable y validable.</a:t>
            </a:r>
          </a:p>
          <a:p xmlns:a="http://schemas.openxmlformats.org/drawingml/2006/main">
            <a:r>
              <a:t>Nombrar brevemente al equipo y a Marcos Martini como contraparte.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Documento_de_Vision_y_Roles_Martini_Cell (1) (1)(1).docx.</a:t>
            </a:r>
          </a:p>
          <a:p xmlns:a="http://schemas.openxmlformats.org/drawingml/2006/main">
            <a:r>
              <a:t>- Imagen de portada heredada: https://framerusercontent.com/images/O4kiqMkRzsLCh911zugAcZ9wK4.jpg?width=3228&amp;height=2160</a:t>
            </a:r>
          </a:p>
          <a:p xmlns:a="http://schemas.openxmlformats.org/drawingml/2006/main">
            <a:r>
              <a:t>- Origen indicado en la presentación original: https://www.framer.com/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Juan Valencia.</a:t>
            </a:r>
          </a:p>
          <a:p xmlns:a="http://schemas.openxmlformats.org/drawingml/2006/main">
            <a:r>
              <a:t>Explicar el flujo actual: guías en papel, planillas sueltas, mensajería y organización física.</a:t>
            </a:r>
          </a:p>
          <a:p xmlns:a="http://schemas.openxmlformats.org/drawingml/2006/main">
            <a:r>
              <a:t>Evidencia: aproximadamente 35 a 45 equipos por semana y 6 a 10 consultas diarias por estado.</a:t>
            </a:r>
          </a:p>
          <a:p xmlns:a="http://schemas.openxmlformats.org/drawingml/2006/main">
            <a:r>
              <a:t>Cerrar con la consecuencia: el problema no es solo administrativo; afecta trazabilidad, servicio al cliente y decisiones técnicas y comerciales.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(1).docx, sección Relevancia del proyecto APT.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Juan Valencia.</a:t>
            </a:r>
          </a:p>
          <a:p xmlns:a="http://schemas.openxmlformats.org/drawingml/2006/main">
            <a:r>
              <a:t>La misión expresa lo que el proyecto hará durante el semestre; la visión describe el estado futuro buscado para Martini Cell.</a:t>
            </a:r>
          </a:p>
          <a:p xmlns:a="http://schemas.openxmlformats.org/drawingml/2006/main">
            <a:r>
              <a:t>La reducción del 30% es una meta inicial del piloto, no un resultado ya alcanzado ni una garantía.</a:t>
            </a:r>
          </a:p>
          <a:p xmlns:a="http://schemas.openxmlformats.org/drawingml/2006/main">
            <a:r>
              <a:t>Se medirá comparando el tiempo promedio para buscar y actualizar información antes de la solución con el tiempo promedio observado durante el piloto.</a:t>
            </a:r>
          </a:p>
          <a:p xmlns:a="http://schemas.openxmlformats.org/drawingml/2006/main">
            <a:r>
              <a:t>Enfatizar que la plataforma apoya a Marcos y al ayudante, pero no reemplaza el criterio profesional del técnico.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Documento_de_Vision_y_Roles_Martini_Cell (1) (1)(1).docx, Visión del Proyecto Martini Cell.</a:t>
            </a:r>
          </a:p>
          <a:p xmlns:a="http://schemas.openxmlformats.org/drawingml/2006/main">
            <a:r>
              <a:t>- 1.5_Definicion_Proyecto_APT_Martini_Cell(corregido) (1).docx, Descripción del Proyecto APT.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Oscar Contreras.</a:t>
            </a:r>
          </a:p>
          <a:p xmlns:a="http://schemas.openxmlformats.org/drawingml/2006/main">
            <a:r>
              <a:t>Recorrer el flujo de izquierda a derecha: ingreso, orden, diagnóstico, reparación, seguimiento y cierre.</a:t>
            </a:r>
          </a:p>
          <a:p xmlns:a="http://schemas.openxmlformats.org/drawingml/2006/main">
            <a:r>
              <a:t>Distinguir tres capacidades: gestión, trazabilidad y operación; luego mencionar consulta por código e indicadores.</a:t>
            </a:r>
          </a:p>
          <a:p xmlns:a="http://schemas.openxmlformats.org/drawingml/2006/main">
            <a:r>
              <a:t>Aclarar que el índice de viabilidad es explicable y orientativo. No existe diagnóstico autónomo ni decisión automática.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(1).docx, Descripción del Proyecto APT y alcance de la solución.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Rafael Muñoz.</a:t>
            </a:r>
          </a:p>
          <a:p xmlns:a="http://schemas.openxmlformats.org/drawingml/2006/main">
            <a:r>
              <a:t>Explicar que los seis objetivos específicos se agrupan en tres resultados: trazabilidad, operación y apoyo a decisiones.</a:t>
            </a:r>
          </a:p>
          <a:p xmlns:a="http://schemas.openxmlformats.org/drawingml/2006/main">
            <a:r>
              <a:t>El límite de alcance protege la factibilidad del proyecto. La predicción es experimental; la solución puede completarse sin ella.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(1).docx, sección Objetivos.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Rafael Muñoz.</a:t>
            </a:r>
          </a:p>
          <a:p xmlns:a="http://schemas.openxmlformats.org/drawingml/2006/main">
            <a:r>
              <a:t>Relacionar cada competencia con una acción: Kanban y riesgos; modelo relacional; frontend, API e integración; criterios de aceptación y pruebas.</a:t>
            </a:r>
          </a:p>
          <a:p xmlns:a="http://schemas.openxmlformats.org/drawingml/2006/main">
            <a:r>
              <a:t>Cada integrante debe decir en primera persona cómo su área de interés se refleja en su aporte. Esto responde al componente individual de la rúbrica.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- 1.4_APT122_FormativaFase1 (1).docx, relación con perfil de egreso e intereses.</a:t>
            </a:r>
          </a:p>
          <a:p xmlns:a="http://schemas.openxmlformats.org/drawingml/2006/main">
            <a:r>
              <a:t>- PLANILLA DE EVALUACIÓN FASE 1.xlsx, indicadores 2 y 3.</a:t>
            </a:r>
          </a:p>
          <a:p xmlns:a="http://schemas.openxmlformats.org/drawingml/2006/main">
            <a:r>
              <a:t>- 1.2_APT122_DiarioReflexionFase1 .docx, intereses de Juan Valencia.</a:t>
            </a:r>
          </a:p>
          <a:p xmlns:a="http://schemas.openxmlformats.org/drawingml/2006/main">
            <a:r>
              <a:t>- Documento_de_Vision_y_Roles_Martini_Cell (1) (1)(1).docx, responsabilidades de Oscar Contreras y Rafael Muñoz.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Oscar Contreras.</a:t>
            </a:r>
          </a:p>
          <a:p xmlns:a="http://schemas.openxmlformats.org/drawingml/2006/main">
            <a:r>
              <a:t>Kanban es la metodología oficial del proyecto: backlog, flujo visible, límites WIP, tareas bloqueadas, Definition of Done y releases.</a:t>
            </a:r>
          </a:p>
          <a:p xmlns:a="http://schemas.openxmlformats.org/drawingml/2006/main">
            <a:r>
              <a:t>CRISP-DM no reemplaza Kanban; se aplica únicamente a la ruta experimental de datos y Machine Learning.</a:t>
            </a:r>
          </a:p>
          <a:p xmlns:a="http://schemas.openxmlformats.org/drawingml/2006/main">
            <a:r>
              <a:t>La DoD exige criterios de aceptación cumplidos, pruebas ejecutadas, evidencia registrada y validación cuando corresponda.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(1).docx, sección Metodología.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Rafael Muñoz.</a:t>
            </a:r>
          </a:p>
          <a:p xmlns:a="http://schemas.openxmlformats.org/drawingml/2006/main">
            <a:r>
              <a:t>Explicar que los roles no crean silos: los tres desarrollan, integran y prueban, pero cada uno lidera un frente verificable.</a:t>
            </a:r>
          </a:p>
          <a:p xmlns:a="http://schemas.openxmlformats.org/drawingml/2006/main">
            <a:r>
              <a:t>La participación se evidenciará mediante tablero, commits, documentos, pruebas y actas de validación.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Documento_de_Vision_y_Roles_Martini_Cell (1) (1)(1).docx, Definición de Roles.</a:t>
            </a:r>
          </a:p>
          <a:p xmlns:a="http://schemas.openxmlformats.org/drawingml/2006/main">
            <a:r>
              <a:t>- PLANILLA DE EVALUACIÓN FASE 1.xlsx, indicador 13: colaboración y trabajo en equipo.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Oscar Contreras.</a:t>
            </a:r>
          </a:p>
          <a:p xmlns:a="http://schemas.openxmlformats.org/drawingml/2006/main">
            <a:r>
              <a:t>Explicar los tres bloques funcionales y evitar enumerar demasiado. La idea principal es que el backlog cubre el flujo central, la operación y el apoyo analítico.</a:t>
            </a:r>
          </a:p>
          <a:p xmlns:a="http://schemas.openxmlformats.org/drawingml/2006/main">
            <a:r>
              <a:t>EP-10 es el único componente condicionado por suficiencia y calidad de datos.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Documento_de_Epicas_Martini_Cell.docx, Épicas para el proyecto Martini Cell.</a:t>
            </a:r>
          </a:p>
          <a:p xmlns:a="http://schemas.openxmlformats.org/drawingml/2006/main">
            <a:r>
              <a:t>- 1.5_Definicion_Proyecto_APT_Martini_Cell(corregido) (1).docx, alcance obligatorio de la solución.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Oscar Contreras.</a:t>
            </a:r>
          </a:p>
          <a:p xmlns:a="http://schemas.openxmlformats.org/drawingml/2006/main">
            <a:r>
              <a:t>Explicar el recorrido: usuarios y navegador; interfaz Vue.js; API y lógica en Python con Django REST; PostgreSQL; Firebase Storage; analítica condicionada; Docker para despliegue.</a:t>
            </a:r>
          </a:p>
          <a:p xmlns:a="http://schemas.openxmlformats.org/drawingml/2006/main">
            <a:r>
              <a:t>PostgreSQL es la recomendación inicial y el proveedor de nube continúa por definir.</a:t>
            </a:r>
          </a:p>
          <a:p xmlns:a="http://schemas.openxmlformats.org/drawingml/2006/main">
            <a:r>
              <a:t>Seguridad transversal: HTTPS, roles, auditoría, anonimización y respaldos.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WhatsApp Image 2026-08-31 at 3.24.31 PM.jpeg, arquitectura corregida proporcionada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Juan Valencia.</a:t>
            </a:r>
          </a:p>
          <a:p xmlns:a="http://schemas.openxmlformats.org/drawingml/2006/main">
            <a:r>
              <a:t>Explicar que la Carta Gantt reproduce las actividades y duraciones establecidas en el documento 1.5 corregido.</a:t>
            </a:r>
          </a:p>
          <a:p xmlns:a="http://schemas.openxmlformats.org/drawingml/2006/main">
            <a:r>
              <a:t>Destacar tres trabajos transversales: seguimiento Kanban durante las 18 semanas, preparación progresiva de los 10 casos y pruebas continuas entre las semanas 5 y 15.</a:t>
            </a:r>
          </a:p>
          <a:p xmlns:a="http://schemas.openxmlformats.org/drawingml/2006/main">
            <a:r>
              <a:t>Los hitos principales son: alcance validado en S4, núcleo de órdenes en S8, operación integrada en S12, versión funcional en S15 y cierre en S18.</a:t>
            </a:r>
          </a:p>
          <a:p xmlns:a="http://schemas.openxmlformats.org/drawingml/2006/main">
            <a:r>
              <a:t>La evaluación de Machine Learning ocurre entre S13 y S15, pero continúa condicionada a la suficiencia y calidad de los datos.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(1)(1).docx, secciones Plan de Trabajo y Carta Gantt.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Rafael Muñoz.</a:t>
            </a:r>
          </a:p>
          <a:p xmlns:a="http://schemas.openxmlformats.org/drawingml/2006/main">
            <a:r>
              <a:t>Cerrar conectando la evidencia de Fase 1 con la construcción de Fase 2. No prometer resultados todavía no obtenidos.</a:t>
            </a:r>
          </a:p>
          <a:p xmlns:a="http://schemas.openxmlformats.org/drawingml/2006/main">
            <a:r>
              <a:t>Reforzar que el equipo conoce el alcance, las responsabilidades y los criterios para considerar una funcionalidad terminada.</a:t>
            </a:r>
          </a:p>
          <a:p xmlns:a="http://schemas.openxmlformats.org/drawingml/2006/main">
            <a:r>
              <a:t>Invitar a preguntas y responder usando lenguaje técnico, pero explicando cada concepto con claridad.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(1).docx, secciones Evidencias y Plan de Trabajo.</a:t>
            </a:r>
          </a:p>
          <a:p xmlns:a="http://schemas.openxmlformats.org/drawingml/2006/main">
            <a:r>
              <a:t>- PLANILLA DE EVALUACIÓN FASE 1.xlsx, criterios grupales e individuales.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b9f91469fa48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665667ec649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9688f206f46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3671c4282846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e222b85714b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fd9703b3b444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69d67d47f94d5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67b709373448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8f8833927496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8744cb515453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abea6e4d44ad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54300A-8780-404F-B96D-E0AEC327008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22C3191-91F6-483C-B2C8-9A2812E959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9045F4-15F2-4621-9C60-6AD6235563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6F9023E-547C-4496-ADF6-5294D318BF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2B74F6-FF13-4F96-BC40-2BD4F21821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320B4B-6C07-4FF8-9225-245C7A080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5765F5D-70C1-4075-B012-11D2FC88FD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3B583E-A334-4BB6-899C-5DCFC9849E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12DAB9-81C9-4124-B18B-B0AE61B209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9FDD61-E757-44E3-84B9-756A18E14C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7DFE04-AE3F-4356-9F97-FEAF4FFD49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20064FA-4A80-435B-80B8-46CBF89BE1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FB13E3-9978-4C7F-A721-4531970987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DD9675-2C7C-4CB8-9E0D-396A5A3458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A0885F-6195-4DC6-8DB6-12F914F0C8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9055E4-262E-4524-BE7F-80DD3A4D7A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58EA24-228E-4FF6-8289-B7EA143731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8AD10D9-3B75-4C18-8649-0CFE62DC264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4C12B71-3B4F-4FFC-9F74-3B8AA31950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9F2F6B-912D-4610-B317-9247D0AD98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3AF4603-260E-4CBE-A0DE-C53D6C448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DC5690-9857-42BF-AD58-35353085E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ED5B7FE-1A8A-4060-975F-40710E0807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72BBF6-F84D-4032-95A8-C1E34AC783C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60C0C69-4DA4-4FFA-B2D5-C2F1D29A7AE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4E37175-D4C1-4CD2-AE0B-7E6F4D24232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A80D519-595D-4432-94A5-80A5EC76D4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7CB6321-E77F-4411-94B2-A8951E6671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CB8AD61-EE62-48F4-8343-7CD3F7F5A8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4B93EC-02B8-40A3-AE4D-1BF5381E38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4C15A42-F9C1-438A-846B-4F3FDCE9DA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49922F9-E20B-45D9-A467-4C19CB12C5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E83092E-A370-406D-881B-3B0766E5E6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9F35AF9-DCFF-4E36-B595-B6BC374C29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48D2A1B-2D72-4B49-84D5-853109D443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4267B13-FDE9-4D5D-91D0-50764BC9CB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718FDB-4B02-4720-9841-8DBE59EB26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D3CA33-2168-44BC-AA52-BB246DBBDD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DE0A38A-5904-4654-BEAC-89A7AED1A6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C2F60AA-377F-4EBE-B234-5235A81E79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E305729-DEAC-45FE-97B8-471E9D7CAF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2BAED3A-DF9F-4B0F-974F-335922A255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8FB771-301D-404D-A42E-A00972B3EB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D10A63F-20BF-468A-9066-0BF2F1F8B27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6C8EC26-6DB2-4C03-80AB-1B5D12C185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E034E11-3E4C-4679-810B-F4020FB29D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AC5C422-F338-4C07-ADAA-4B1EAD00F4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387A1F3-43BD-4B02-B873-E488513F39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157199-6F01-451A-BC77-D9E2017491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580E25-FF2F-4A80-86AF-69A31393E4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DAA286-C3BC-4192-A8D3-A55581A2D6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AC35AC-5E09-49BE-95AD-5DAAD7BA4D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CFA4F8-D2E3-402E-B234-98D2E6D769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1198E63-4FC1-419F-A9E7-17D4915825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D587DA-D027-4562-AD1B-70757E0F1A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42A1C1-6647-45CB-8513-C492C2C68A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BA78B7-338C-449B-A068-6D4FDC389F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6E7C19-68D9-4BAC-9763-78577F1D27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bcfeb742e8439e" /><Relationship Type="http://schemas.openxmlformats.org/officeDocument/2006/relationships/slideLayout" Target="/ppt/slideLayouts/slideLayout1.xml" Id="R6473619070d0425f" /><Relationship Type="http://schemas.openxmlformats.org/officeDocument/2006/relationships/slideLayout" Target="/ppt/slideLayouts/slideLayout2.xml" Id="Rde01f3bbf2dd4a06" /><Relationship Type="http://schemas.openxmlformats.org/officeDocument/2006/relationships/slideLayout" Target="/ppt/slideLayouts/slideLayout3.xml" Id="R5b0559025b6b4366" /><Relationship Type="http://schemas.openxmlformats.org/officeDocument/2006/relationships/slideLayout" Target="/ppt/slideLayouts/slideLayout4.xml" Id="R9ca60cb16b564b08" /><Relationship Type="http://schemas.openxmlformats.org/officeDocument/2006/relationships/slideLayout" Target="/ppt/slideLayouts/slideLayout5.xml" Id="R2b897527d9d24f66" /><Relationship Type="http://schemas.openxmlformats.org/officeDocument/2006/relationships/slideLayout" Target="/ppt/slideLayouts/slideLayout6.xml" Id="Rb7dc36632d7044e4" /><Relationship Type="http://schemas.openxmlformats.org/officeDocument/2006/relationships/slideLayout" Target="/ppt/slideLayouts/slideLayout7.xml" Id="R5176d7ddc61d4aaa" /><Relationship Type="http://schemas.openxmlformats.org/officeDocument/2006/relationships/slideLayout" Target="/ppt/slideLayouts/slideLayout8.xml" Id="Ra1f237661df146db" /><Relationship Type="http://schemas.openxmlformats.org/officeDocument/2006/relationships/slideLayout" Target="/ppt/slideLayouts/slideLayout9.xml" Id="R40bb00fb89b144fc" /><Relationship Type="http://schemas.openxmlformats.org/officeDocument/2006/relationships/slideLayout" Target="/ppt/slideLayouts/slideLayout10.xml" Id="R96ef0455c1a248d7" /><Relationship Type="http://schemas.openxmlformats.org/officeDocument/2006/relationships/slideLayout" Target="/ppt/slideLayouts/slideLayout11.xml" Id="R06876610d6c84b8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41DE628-855A-46BB-AF43-C9AD74C4FB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F3501A-B81D-46AD-997D-21C93EF9A9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39F289-7A07-4C70-9339-7559CD77A95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8C6A1D-F1E5-4278-A024-DF65C9CAB50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CD5268-2895-40DF-94EE-0337AABB289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73619070d0425f"/>
    <p:sldLayoutId xmlns:r="http://schemas.openxmlformats.org/officeDocument/2006/relationships" id="2147483650" r:id="Rde01f3bbf2dd4a06"/>
    <p:sldLayoutId xmlns:r="http://schemas.openxmlformats.org/officeDocument/2006/relationships" id="2147483651" r:id="R5b0559025b6b4366"/>
    <p:sldLayoutId xmlns:r="http://schemas.openxmlformats.org/officeDocument/2006/relationships" id="2147483652" r:id="R9ca60cb16b564b08"/>
    <p:sldLayoutId xmlns:r="http://schemas.openxmlformats.org/officeDocument/2006/relationships" id="2147483653" r:id="R2b897527d9d24f66"/>
    <p:sldLayoutId xmlns:r="http://schemas.openxmlformats.org/officeDocument/2006/relationships" id="2147483654" r:id="Rb7dc36632d7044e4"/>
    <p:sldLayoutId xmlns:r="http://schemas.openxmlformats.org/officeDocument/2006/relationships" id="2147483655" r:id="R5176d7ddc61d4aaa"/>
    <p:sldLayoutId xmlns:r="http://schemas.openxmlformats.org/officeDocument/2006/relationships" id="2147483656" r:id="Ra1f237661df146db"/>
    <p:sldLayoutId xmlns:r="http://schemas.openxmlformats.org/officeDocument/2006/relationships" id="2147483657" r:id="R40bb00fb89b144fc"/>
    <p:sldLayoutId xmlns:r="http://schemas.openxmlformats.org/officeDocument/2006/relationships" id="2147483658" r:id="R96ef0455c1a248d7"/>
    <p:sldLayoutId xmlns:r="http://schemas.openxmlformats.org/officeDocument/2006/relationships" id="2147483659" r:id="R06876610d6c84b83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394c90c4f24520" /><Relationship Type="http://schemas.openxmlformats.org/officeDocument/2006/relationships/image" Target="/ppt/media/image.png" Id="R68a7a7de4e864041" /><Relationship Type="http://schemas.openxmlformats.org/officeDocument/2006/relationships/notesSlide" Target="/ppt/notesSlides/notesSlide1.xml" Id="R2efab419d79e45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b9fc577e144b66" /><Relationship Type="http://schemas.openxmlformats.org/officeDocument/2006/relationships/image" Target="/ppt/media/image2.png" Id="Re06d977413c14e66" /><Relationship Type="http://schemas.openxmlformats.org/officeDocument/2006/relationships/image" Target="/ppt/media/image3.png" Id="R21bb4fc4a769468c" /><Relationship Type="http://schemas.openxmlformats.org/officeDocument/2006/relationships/image" Target="/ppt/media/image4.png" Id="Rb407b13d4faa42df" /><Relationship Type="http://schemas.openxmlformats.org/officeDocument/2006/relationships/image" Target="/ppt/media/image5.png" Id="R5c76cdff63e24bd0" /><Relationship Type="http://schemas.openxmlformats.org/officeDocument/2006/relationships/image" Target="/ppt/media/image6.png" Id="R994ab34dd62746b7" /><Relationship Type="http://schemas.openxmlformats.org/officeDocument/2006/relationships/image" Target="/ppt/media/image7.png" Id="Rb0006bb9ed8548ed" /><Relationship Type="http://schemas.openxmlformats.org/officeDocument/2006/relationships/image" Target="/ppt/media/image8.png" Id="R8fcb96ea19ef47f5" /><Relationship Type="http://schemas.openxmlformats.org/officeDocument/2006/relationships/image" Target="/ppt/media/image9.png" Id="R34fb68800ca34b6f" /><Relationship Type="http://schemas.openxmlformats.org/officeDocument/2006/relationships/image" Target="/ppt/media/image10.png" Id="R2ad886749e474fae" /><Relationship Type="http://schemas.openxmlformats.org/officeDocument/2006/relationships/image" Target="/ppt/media/image11.png" Id="Rc097c0eeac244442" /><Relationship Type="http://schemas.openxmlformats.org/officeDocument/2006/relationships/image" Target="/ppt/media/image12.png" Id="Rf78bb84117884e0a" /><Relationship Type="http://schemas.openxmlformats.org/officeDocument/2006/relationships/image" Target="/ppt/media/image13.png" Id="R3b745fc4b54b4cf9" /><Relationship Type="http://schemas.openxmlformats.org/officeDocument/2006/relationships/image" Target="/ppt/media/image14.png" Id="Rf8f3939949474c95" /><Relationship Type="http://schemas.openxmlformats.org/officeDocument/2006/relationships/notesSlide" Target="/ppt/notesSlides/notesSlide2.xml" Id="R15db91839cab4d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36f0460db7433f" /><Relationship Type="http://schemas.openxmlformats.org/officeDocument/2006/relationships/image" Target="/ppt/media/image15.png" Id="R97fc6466807644d1" /><Relationship Type="http://schemas.openxmlformats.org/officeDocument/2006/relationships/image" Target="/ppt/media/image16.png" Id="Rc7cb9c8724fb4afd" /><Relationship Type="http://schemas.openxmlformats.org/officeDocument/2006/relationships/image" Target="/ppt/media/image17.png" Id="Rd2136524e76143bf" /><Relationship Type="http://schemas.openxmlformats.org/officeDocument/2006/relationships/image" Target="/ppt/media/image18.png" Id="R0fcc9a96e1304aa3" /><Relationship Type="http://schemas.openxmlformats.org/officeDocument/2006/relationships/image" Target="/ppt/media/image19.png" Id="R92b465a4801a4cf9" /><Relationship Type="http://schemas.openxmlformats.org/officeDocument/2006/relationships/image" Target="/ppt/media/image20.png" Id="R408d6f48200d4072" /><Relationship Type="http://schemas.openxmlformats.org/officeDocument/2006/relationships/notesSlide" Target="/ppt/notesSlides/notesSlide3.xml" Id="Rcf8417bb451843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d168eccdf446be" /><Relationship Type="http://schemas.openxmlformats.org/officeDocument/2006/relationships/image" Target="/ppt/media/image21.png" Id="Rc66c3b2e6cce4204" /><Relationship Type="http://schemas.openxmlformats.org/officeDocument/2006/relationships/image" Target="/ppt/media/image22.png" Id="R4ec31485afeb4577" /><Relationship Type="http://schemas.openxmlformats.org/officeDocument/2006/relationships/image" Target="/ppt/media/image23.png" Id="R45a3d38b0dad4972" /><Relationship Type="http://schemas.openxmlformats.org/officeDocument/2006/relationships/image" Target="/ppt/media/image24.png" Id="R145fd8bb85884b59" /><Relationship Type="http://schemas.openxmlformats.org/officeDocument/2006/relationships/image" Target="/ppt/media/image25.png" Id="R2a8143c6bfee4452" /><Relationship Type="http://schemas.openxmlformats.org/officeDocument/2006/relationships/image" Target="/ppt/media/image26.png" Id="Rd00eddf118ed40b5" /><Relationship Type="http://schemas.openxmlformats.org/officeDocument/2006/relationships/image" Target="/ppt/media/image27.png" Id="Rdfbe8fe4031c4d1c" /><Relationship Type="http://schemas.openxmlformats.org/officeDocument/2006/relationships/image" Target="/ppt/media/image28.png" Id="R713d640680ef4447" /><Relationship Type="http://schemas.openxmlformats.org/officeDocument/2006/relationships/image" Target="/ppt/media/image29.png" Id="R040c4c1d2c444684" /><Relationship Type="http://schemas.openxmlformats.org/officeDocument/2006/relationships/image" Target="/ppt/media/image30.png" Id="Rbed3457713e74c94" /><Relationship Type="http://schemas.openxmlformats.org/officeDocument/2006/relationships/image" Target="/ppt/media/image31.png" Id="R91bc7d66871e4fef" /><Relationship Type="http://schemas.openxmlformats.org/officeDocument/2006/relationships/image" Target="/ppt/media/image32.png" Id="Rc8ce05f6ca4d4803" /><Relationship Type="http://schemas.openxmlformats.org/officeDocument/2006/relationships/image" Target="/ppt/media/image33.png" Id="R3c4623a37e354d40" /><Relationship Type="http://schemas.openxmlformats.org/officeDocument/2006/relationships/image" Target="/ppt/media/image34.png" Id="R1a2d2cdbadfb47f0" /><Relationship Type="http://schemas.openxmlformats.org/officeDocument/2006/relationships/image" Target="/ppt/media/image35.png" Id="R090fe9c1065a4494" /><Relationship Type="http://schemas.openxmlformats.org/officeDocument/2006/relationships/image" Target="/ppt/media/image36.png" Id="R620d1b2c028446d6" /><Relationship Type="http://schemas.openxmlformats.org/officeDocument/2006/relationships/image" Target="/ppt/media/image37.png" Id="R24538f3a24ee4b2e" /><Relationship Type="http://schemas.openxmlformats.org/officeDocument/2006/relationships/notesSlide" Target="/ppt/notesSlides/notesSlide4.xml" Id="R82108599a9ba4d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1632a45e6e4c5f" /><Relationship Type="http://schemas.openxmlformats.org/officeDocument/2006/relationships/image" Target="/ppt/media/image15.png" Id="Rfad8f1dfb0f54240" /><Relationship Type="http://schemas.openxmlformats.org/officeDocument/2006/relationships/image" Target="/ppt/media/image16.png" Id="Ra97ca28fd22a4457" /><Relationship Type="http://schemas.openxmlformats.org/officeDocument/2006/relationships/image" Target="/ppt/media/image17.png" Id="R7a011ca31baf40e1" /><Relationship Type="http://schemas.openxmlformats.org/officeDocument/2006/relationships/image" Target="/ppt/media/image18.png" Id="Re4945df1f4c14390" /><Relationship Type="http://schemas.openxmlformats.org/officeDocument/2006/relationships/image" Target="/ppt/media/image19.png" Id="R2e6773c4d57f4b71" /><Relationship Type="http://schemas.openxmlformats.org/officeDocument/2006/relationships/image" Target="/ppt/media/image20.png" Id="R81df138680474cfb" /><Relationship Type="http://schemas.openxmlformats.org/officeDocument/2006/relationships/notesSlide" Target="/ppt/notesSlides/notesSlide5.xml" Id="Rbd75eaa33bfa4e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83e8d488664fc5" /><Relationship Type="http://schemas.openxmlformats.org/officeDocument/2006/relationships/image" Target="/ppt/media/image38.png" Id="Rc88e1a0c74754210" /><Relationship Type="http://schemas.openxmlformats.org/officeDocument/2006/relationships/image" Target="/ppt/media/image39.png" Id="Rf3bf5da9268247c5" /><Relationship Type="http://schemas.openxmlformats.org/officeDocument/2006/relationships/image" Target="/ppt/media/image40.png" Id="R21995864360448ad" /><Relationship Type="http://schemas.openxmlformats.org/officeDocument/2006/relationships/image" Target="/ppt/media/image41.png" Id="R74cd530519bd43e2" /><Relationship Type="http://schemas.openxmlformats.org/officeDocument/2006/relationships/image" Target="/ppt/media/image42.png" Id="R46baaf10a2fa4d32" /><Relationship Type="http://schemas.openxmlformats.org/officeDocument/2006/relationships/image" Target="/ppt/media/image43.png" Id="Rcdcda866d3c64dc7" /><Relationship Type="http://schemas.openxmlformats.org/officeDocument/2006/relationships/image" Target="/ppt/media/image44.png" Id="Rd5488f8c8a95489a" /><Relationship Type="http://schemas.openxmlformats.org/officeDocument/2006/relationships/image" Target="/ppt/media/image45.png" Id="R80c1df8e720c4c19" /><Relationship Type="http://schemas.openxmlformats.org/officeDocument/2006/relationships/image" Target="/ppt/media/image46.png" Id="Ra9d7578b33184b9d" /><Relationship Type="http://schemas.openxmlformats.org/officeDocument/2006/relationships/image" Target="/ppt/media/image47.png" Id="R51e07bac98294581" /><Relationship Type="http://schemas.openxmlformats.org/officeDocument/2006/relationships/image" Target="/ppt/media/image48.png" Id="Rb3fef68769de4dbb" /><Relationship Type="http://schemas.openxmlformats.org/officeDocument/2006/relationships/notesSlide" Target="/ppt/notesSlides/notesSlide6.xml" Id="R26ca9146800349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e51db02cbc4285" /><Relationship Type="http://schemas.openxmlformats.org/officeDocument/2006/relationships/notesSlide" Target="/ppt/notesSlides/notesSlide7.xml" Id="R8c7b8885b02047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edfaf0966f4f6d" /><Relationship Type="http://schemas.openxmlformats.org/officeDocument/2006/relationships/image" Target="/ppt/media/image15.png" Id="R548fb10ade034beb" /><Relationship Type="http://schemas.openxmlformats.org/officeDocument/2006/relationships/image" Target="/ppt/media/image16.png" Id="R4c1d17df7b9c4307" /><Relationship Type="http://schemas.openxmlformats.org/officeDocument/2006/relationships/image" Target="/ppt/media/image17.png" Id="R6da3109105bf4011" /><Relationship Type="http://schemas.openxmlformats.org/officeDocument/2006/relationships/image" Target="/ppt/media/image18.png" Id="R6c0913a06e714043" /><Relationship Type="http://schemas.openxmlformats.org/officeDocument/2006/relationships/image" Target="/ppt/media/image19.png" Id="Ra2865aca38694bc8" /><Relationship Type="http://schemas.openxmlformats.org/officeDocument/2006/relationships/image" Target="/ppt/media/image20.png" Id="R3fc1964493e7436e" /><Relationship Type="http://schemas.openxmlformats.org/officeDocument/2006/relationships/notesSlide" Target="/ppt/notesSlides/notesSlide8.xml" Id="Ra32e7727ff4b4c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f5f4d56c2043fb" /><Relationship Type="http://schemas.openxmlformats.org/officeDocument/2006/relationships/image" Target="/ppt/media/image15.png" Id="R09e9ddced2a64649" /><Relationship Type="http://schemas.openxmlformats.org/officeDocument/2006/relationships/image" Target="/ppt/media/image16.png" Id="R26a2957ed74a40e1" /><Relationship Type="http://schemas.openxmlformats.org/officeDocument/2006/relationships/image" Target="/ppt/media/image17.png" Id="Rc0df0896cb0f4c61" /><Relationship Type="http://schemas.openxmlformats.org/officeDocument/2006/relationships/image" Target="/ppt/media/image18.png" Id="Rd7521f1f6fc645be" /><Relationship Type="http://schemas.openxmlformats.org/officeDocument/2006/relationships/image" Target="/ppt/media/image19.png" Id="Rc8342811cb814d4c" /><Relationship Type="http://schemas.openxmlformats.org/officeDocument/2006/relationships/image" Target="/ppt/media/image20.png" Id="R6456ae165a084a93" /><Relationship Type="http://schemas.openxmlformats.org/officeDocument/2006/relationships/notesSlide" Target="/ppt/notesSlides/notesSlide9.xml" Id="R10956c1afd544e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9764a8549d4a03" /><Relationship Type="http://schemas.openxmlformats.org/officeDocument/2006/relationships/image" Target="/ppt/media/image.jpeg" Id="R4ccc7e26c86d4690" /><Relationship Type="http://schemas.openxmlformats.org/officeDocument/2006/relationships/notesSlide" Target="/ppt/notesSlides/notesSlide10.xml" Id="R60b9389e4a1743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91c6667cf9485c" /><Relationship Type="http://schemas.openxmlformats.org/officeDocument/2006/relationships/notesSlide" Target="/ppt/notesSlides/notesSlide11.xml" Id="R8d296a94552348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cdc195f7074286" /><Relationship Type="http://schemas.openxmlformats.org/officeDocument/2006/relationships/image" Target="/ppt/media/image49.png" Id="R21a852967e8f4e7e" /><Relationship Type="http://schemas.openxmlformats.org/officeDocument/2006/relationships/image" Target="/ppt/media/image50.png" Id="Rf63c4caf89aa421d" /><Relationship Type="http://schemas.openxmlformats.org/officeDocument/2006/relationships/image" Target="/ppt/media/image51.png" Id="R261486aaaccc4779" /><Relationship Type="http://schemas.openxmlformats.org/officeDocument/2006/relationships/image" Target="/ppt/media/image52.png" Id="R4d27e7ded3c34dac" /><Relationship Type="http://schemas.openxmlformats.org/officeDocument/2006/relationships/image" Target="/ppt/media/image53.png" Id="R669a3a3002f24d52" /><Relationship Type="http://schemas.openxmlformats.org/officeDocument/2006/relationships/image" Target="/ppt/media/image54.png" Id="Raedac674326140d3" /><Relationship Type="http://schemas.openxmlformats.org/officeDocument/2006/relationships/image" Target="/ppt/media/image55.png" Id="R40c9ab2bd69f49a9" /><Relationship Type="http://schemas.openxmlformats.org/officeDocument/2006/relationships/image" Target="/ppt/media/image56.png" Id="Rdf3fe191e8c747d8" /><Relationship Type="http://schemas.openxmlformats.org/officeDocument/2006/relationships/image" Target="/ppt/media/image57.png" Id="R736993ed6f7b4c94" /><Relationship Type="http://schemas.openxmlformats.org/officeDocument/2006/relationships/image" Target="/ppt/media/image58.png" Id="Rd1414cf2a5db4c4b" /><Relationship Type="http://schemas.openxmlformats.org/officeDocument/2006/relationships/image" Target="/ppt/media/image59.png" Id="R5d63433f799b43a1" /><Relationship Type="http://schemas.openxmlformats.org/officeDocument/2006/relationships/image" Target="/ppt/media/image60.png" Id="R0b54875535044014" /><Relationship Type="http://schemas.openxmlformats.org/officeDocument/2006/relationships/notesSlide" Target="/ppt/notesSlides/notesSlide12.xml" Id="R5450578a72f444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0A1B9B8-8CA6-4E22-9F18-6512C6DC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854"/>
            <a:ext cx="5200650" cy="3268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290"/>
              </a:lnSpc>
              <a:buNone/>
            </a:pPr>
            <a:r>
              <a:rPr sz="3900" b="1" i="0" u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Plataforma web inteligente para la gestión y trazabilidad de servicios técnicos en Martini Cell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2D2D235-12EF-4300-8CCC-BDE64F10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95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"/>
              </a:spcAft>
              <a:buNone/>
              <a:defRPr sz="2100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</a:defRPr>
            </a:pPr>
            <a:r>
              <a:rPr sz="2100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FASE 1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</a:defRPr>
            </a:pPr>
            <a:r>
              <a:rPr sz="2100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DEFINICIÓN Y DISEÑO</a:t>
            </a: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7a7de4e8640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32BD3FF-3B12-482A-BDAD-A30B35AF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922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1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Ingeniería en Informática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AA20327-62BF-4D2A-86C3-F5690F7C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402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Duoc UC – Sede Viña del Mar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1EFF4FE-21C5-400B-8966-6298E5C1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74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1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Integrantes: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FCC0D49-F4EA-4A65-983B-0A211A6B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554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E2E8F0"/>
                </a:solidFill>
                <a:latin typeface="Inter Medium"/>
                <a:ea typeface="Inter Medium"/>
                <a:cs typeface="Inter Medium"/>
              </a:rPr>
              <a:t>Juan Valencia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A0B0D34-619B-4608-ADFD-C5CB257E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604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E2E8F0"/>
                </a:solidFill>
                <a:latin typeface="Inter Medium"/>
                <a:ea typeface="Inter Medium"/>
                <a:cs typeface="Inter Medium"/>
              </a:rPr>
              <a:t>Oscar Contreras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2D0B9B7-0432-4E34-9070-1122E4F1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654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E2E8F0"/>
                </a:solidFill>
                <a:latin typeface="Inter Medium"/>
                <a:ea typeface="Inter Medium"/>
                <a:cs typeface="Inter Medium"/>
              </a:rPr>
              <a:t>Rafael Muñoz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319717A-E2D0-4559-B46A-14349139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754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1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Contraparte:</a:t>
            </a:r>
            <a:r>
              <a:rPr sz="120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 Marcos Martini – Martini Cell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BCD069-1D74-4CF1-8AC0-326DC64F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234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1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Sección 001V · Docente: Jorge Gómez · Año 2026</a:t>
            </a:r>
          </a:p>
        </p:txBody>
      </p:sp>
    </p:spTree>
    <p:extLst>
      <p:ext uri="{BB962C8B-B14F-4D97-AF65-F5344CB8AC3E}">
        <p14:creationId xmlns:p14="http://schemas.microsoft.com/office/powerpoint/2010/main" val="147339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d977413c14e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953125"/>
            <a:ext cx="5334000" cy="666750"/>
          </a:xfrm>
          <a:prstGeom xmlns:a="http://schemas.openxmlformats.org/drawingml/2006/main" prst="rect">
            <a:avLst/>
          </a:prstGeom>
        </p:spPr>
      </p:pic>
      <p:pic>
        <p:nvPicPr>
          <p:cNvPr id="4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b4fc4a76946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2181225"/>
            <a:ext cx="5334000" cy="1295400"/>
          </a:xfrm>
          <a:prstGeom xmlns:a="http://schemas.openxmlformats.org/drawingml/2006/main" prst="rect">
            <a:avLst/>
          </a:prstGeom>
        </p:spPr>
      </p:pic>
      <p:pic>
        <p:nvPicPr>
          <p:cNvPr id="4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7b13d4faa42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3667125"/>
            <a:ext cx="5334000" cy="838200"/>
          </a:xfrm>
          <a:prstGeom xmlns:a="http://schemas.openxmlformats.org/drawingml/2006/main" prst="rect">
            <a:avLst/>
          </a:prstGeom>
        </p:spPr>
      </p:pic>
      <p:pic>
        <p:nvPicPr>
          <p:cNvPr id="4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6cdff63e24b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571750"/>
            <a:ext cx="5334000" cy="590550"/>
          </a:xfrm>
          <a:prstGeom xmlns:a="http://schemas.openxmlformats.org/drawingml/2006/main" prst="rect">
            <a:avLst/>
          </a:prstGeom>
        </p:spPr>
      </p:pic>
      <p:pic>
        <p:nvPicPr>
          <p:cNvPr id="4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ab34dd62746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429000"/>
            <a:ext cx="5334000" cy="590550"/>
          </a:xfrm>
          <a:prstGeom xmlns:a="http://schemas.openxmlformats.org/drawingml/2006/main" prst="rect">
            <a:avLst/>
          </a:prstGeom>
        </p:spPr>
      </p:pic>
      <p:pic>
        <p:nvPicPr>
          <p:cNvPr id="4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06bb9ed8548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286250"/>
            <a:ext cx="5334000" cy="590550"/>
          </a:xfrm>
          <a:prstGeom xmlns:a="http://schemas.openxmlformats.org/drawingml/2006/main" prst="rect">
            <a:avLst/>
          </a:prstGeom>
        </p:spPr>
      </p:pic>
      <p:pic>
        <p:nvPicPr>
          <p:cNvPr id="4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b96ea19ef47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143500"/>
            <a:ext cx="5334000" cy="590550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2939A77-4320-4BD1-A506-D71C5569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La fragmentación actual reduce trazabilidad y control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511B7E-6EEE-48CA-AE36-835D2172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2C62BF3-BC21-4F8D-A819-945019BD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35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Martini Cell es una PYME chilena dedicada al diagnóstico y reparación de celulares y computadores, operativa desde noviembre de 2018.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3676A57-A072-4C41-82C6-14C0752F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560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</a:rPr>
              <a:t>Proceso</a:t>
            </a:r>
            <a:r>
              <a:rPr sz="1350" b="0" i="0" u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</a:rPr>
              <a:t> actual de </a:t>
            </a:r>
            <a:r>
              <a:rPr sz="1350" b="0" i="0" u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</a:rPr>
              <a:t>información</a:t>
            </a:r>
            <a:endParaRPr sz="1350" b="0" i="0" u="none">
              <a:solidFill>
                <a:srgbClr val="94A3B8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ABAB06C-1293-4CD9-884E-F4E85170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91075"/>
            <a:ext cx="560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</a:rPr>
              <a:t>Principales problemas identificados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E87D7CD-93F2-47C0-BE78-693269F6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487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0" i="0" u="none">
                <a:solidFill>
                  <a:srgbClr val="FCA5A5"/>
                </a:solidFill>
                <a:latin typeface="Inter Medium"/>
                <a:ea typeface="Inter Medium"/>
                <a:cs typeface="Inter Medium"/>
              </a:rPr>
              <a:t>Problema central: información fragmentada, baja trazabilidad y decisiones con evidencia incompleta.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D4F7AA4-E405-4445-B97A-B6AF3E53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48234"/>
            <a:ext cx="139585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3200" b="1" i="0" u="none">
                <a:solidFill>
                  <a:srgbClr val="3B82F6"/>
                </a:solidFill>
                <a:latin typeface="Poppins"/>
                <a:ea typeface="Poppins"/>
                <a:cs typeface="Poppins"/>
              </a:rPr>
              <a:t>35–45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2480776-624F-4ACA-9419-33153AB6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458" y="2638425"/>
            <a:ext cx="3328541" cy="492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E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quipos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recibidos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aproximadamente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por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semana</a:t>
            </a:r>
            <a:endParaRPr sz="1600" b="0" i="0" u="none">
              <a:solidFill>
                <a:srgbClr val="CBD5E1"/>
              </a:solidFill>
              <a:latin typeface="Inter Medium"/>
              <a:ea typeface="Inter Medium"/>
              <a:cs typeface="Inter Medium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553FD00-A90D-4FA7-B089-F42874C1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57625"/>
            <a:ext cx="10763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3200" b="1" i="0" u="none">
                <a:solidFill>
                  <a:srgbClr val="3B82F6"/>
                </a:solidFill>
                <a:latin typeface="Poppins"/>
                <a:ea typeface="Poppins"/>
                <a:cs typeface="Poppins"/>
              </a:rPr>
              <a:t>6–10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4CDC7F6-0DA2-447E-82E5-4F5F959E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990975"/>
            <a:ext cx="36004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C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onsultas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diarias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sobre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el 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estado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de 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reparaciones</a:t>
            </a:r>
            <a:endParaRPr sz="1200" b="0" i="0" u="none">
              <a:solidFill>
                <a:srgbClr val="CBD5E1"/>
              </a:solidFill>
              <a:latin typeface="Inter Medium"/>
              <a:ea typeface="Inter Medium"/>
              <a:cs typeface="Inter Medium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741B349-5AEE-4000-8296-F551C4C9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625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Falta de trazabilidad completa de las reparaciones.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12EBC40-90AA-4070-91C1-019CCB9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05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Alto nivel de trabajo manual y redundante.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150972C-6C84-4BAC-880F-AD214D16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483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Dificultad para localizar y relacionar repuestos.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35EABF7-CDFF-447C-A0E2-1050B30D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191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Dificultad para controlar garantías y retiros.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2F01B59-800C-4182-B6FE-BAD88952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5341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Poca visibilidad sobre costos, precios y márgenes.</a:t>
            </a:r>
          </a:p>
        </p:txBody>
      </p:sp>
      <p:pic>
        <p:nvPicPr>
          <p:cNvPr id="65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b68800ca34b6f"/>
          <a:srcRect xmlns:a="http://schemas.openxmlformats.org/drawingml/2006/main" l="46152" t="-6487" r="44764" b="-14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2271" y="2676525"/>
            <a:ext cx="881178" cy="394566"/>
          </a:xfrm>
          <a:prstGeom xmlns:a="http://schemas.openxmlformats.org/drawingml/2006/main" prst="rect">
            <a:avLst/>
          </a:prstGeom>
        </p:spPr>
      </p:pic>
      <p:pic>
        <p:nvPicPr>
          <p:cNvPr id="66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886749e474f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1825" y="3209925"/>
            <a:ext cx="133350" cy="171450"/>
          </a:xfrm>
          <a:prstGeom xmlns:a="http://schemas.openxmlformats.org/drawingml/2006/main" prst="rect">
            <a:avLst/>
          </a:prstGeom>
        </p:spPr>
      </p:pic>
      <p:pic>
        <p:nvPicPr>
          <p:cNvPr id="67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7c0eeac244442"/>
          <a:srcRect xmlns:a="http://schemas.openxmlformats.org/drawingml/2006/main" l="46329" t="-10349" r="45888" b="-17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1963" y="3533775"/>
            <a:ext cx="816293" cy="405765"/>
          </a:xfrm>
          <a:prstGeom xmlns:a="http://schemas.openxmlformats.org/drawingml/2006/main" prst="rect">
            <a:avLst/>
          </a:prstGeom>
        </p:spPr>
      </p:pic>
      <p:pic>
        <p:nvPicPr>
          <p:cNvPr id="68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886749e474f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1825" y="4067175"/>
            <a:ext cx="133350" cy="17145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bb84117884e0a"/>
          <a:srcRect xmlns:a="http://schemas.openxmlformats.org/drawingml/2006/main" l="46385" t="0" r="46405" b="-18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1963" y="4391025"/>
            <a:ext cx="816293" cy="419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886749e474f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1825" y="4924425"/>
            <a:ext cx="133350" cy="17145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45fc4b54b4cf9"/>
          <a:srcRect xmlns:a="http://schemas.openxmlformats.org/drawingml/2006/main" l="45028" t="-29032" r="45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5248275"/>
            <a:ext cx="819150" cy="333375"/>
          </a:xfrm>
          <a:prstGeom xmlns:a="http://schemas.openxmlformats.org/drawingml/2006/main" prst="rect">
            <a:avLst/>
          </a:prstGeom>
        </p:spPr>
      </p:pic>
      <p:pic>
        <p:nvPicPr>
          <p:cNvPr id="72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3939949474c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520065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3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3939949474c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554355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4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3939949474c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588645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5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3939949474c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622935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6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3939949474c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6572250"/>
            <a:ext cx="15240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71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c64668076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686425"/>
            <a:ext cx="11049000" cy="695325"/>
          </a:xfrm>
          <a:prstGeom xmlns:a="http://schemas.openxmlformats.org/drawingml/2006/main" prst="rect">
            <a:avLst/>
          </a:prstGeom>
        </p:spPr>
      </p:pic>
      <p:pic>
        <p:nvPicPr>
          <p:cNvPr id="3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b9c8724fb4a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28850"/>
            <a:ext cx="3492400" cy="3457575"/>
          </a:xfrm>
          <a:prstGeom xmlns:a="http://schemas.openxmlformats.org/drawingml/2006/main" prst="rect">
            <a:avLst/>
          </a:prstGeom>
        </p:spPr>
      </p:pic>
      <p:pic>
        <p:nvPicPr>
          <p:cNvPr id="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36524e76143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650" y="2228850"/>
            <a:ext cx="3492549" cy="3457575"/>
          </a:xfrm>
          <a:prstGeom xmlns:a="http://schemas.openxmlformats.org/drawingml/2006/main" prst="rect">
            <a:avLst/>
          </a:prstGeom>
        </p:spPr>
      </p:pic>
      <p:pic>
        <p:nvPicPr>
          <p:cNvPr id="4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c9a96e1304a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950" y="2228850"/>
            <a:ext cx="3492400" cy="34575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9AB9FC-B6C7-471A-B542-26454F0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Misión y visión definen el valor del proyecto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2DF1FF-B5D4-49F7-9BE2-DBC58B1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EE73F95-3C28-4299-875C-C2F3079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1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La propuesta incorpora una meta inicial medible que se validará durante el piloto.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C7C2BE-48E5-4F1E-A87B-22F8FE86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388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524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EF4444"/>
                </a:solidFill>
                <a:latin typeface="Inter SemiBold"/>
                <a:ea typeface="Inter SemiBold"/>
                <a:cs typeface="Inter SemiBold"/>
              </a:rPr>
              <a:t>Valor para Martini Cell: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AADBA3-0450-4F1A-916A-0422A332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38825"/>
            <a:ext cx="2200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Trazabilidad completa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872FCF-11CA-4311-912C-DCBC520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38825"/>
            <a:ext cx="1438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Meta piloto: –30%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F2DEE0-562D-4AF3-AB12-9E8D778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38825"/>
            <a:ext cx="23717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Respuestas más claras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AF4AF7-679C-41B6-9A00-805E445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7" y="6038850"/>
            <a:ext cx="145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Decisiones con datos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2B929C-3B16-4B46-85BA-EF34AC7B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1. Misión del proyecto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1DE5E5-9949-4DB9-AD56-B054CB7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9048C5C-3BE3-43B2-A93D-9F2100D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369" y="2476500"/>
            <a:ext cx="3147112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2. Visión compartida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74A91F-CBA0-4190-BA5A-67A0614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300" y="2933700"/>
            <a:ext cx="29972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70C12D-86A6-4B0E-9992-9227995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67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3. Valor esperado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54AA2E3-3646-46B0-B5CF-80C63B4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60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6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465a4801a4c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2550" y="58578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3FAFC67-9BD9-4A7D-8EC5-ADEE083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Digitalizar el flujo de reparación.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C24A438-3F86-41E2-9F0A-30192F8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Centralizar registros, estados, tiempos, evidencias y operación.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5B1FBCD-EE40-4CFE-8A72-021572D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086100"/>
            <a:ext cx="273054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Mantener la trazabilidad desde el ingreso del equipo hasta su cierre.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FD94C2-59E4-4775-8016-63E3F97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886200"/>
            <a:ext cx="273054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Facilitar el trabajo interno, la consulta y decisiones con información confiable.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847088F-8904-4DE9-8687-334616E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Reducir 30% el tiempo de búsqueda y actualización operativa.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B96CC81-67F7-4B6D-AB61-3259AA0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6576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Mejorar el control técnico, operacional y comercial del servicio.</a:t>
            </a:r>
          </a:p>
        </p:txBody>
      </p:sp>
      <p:pic>
        <p:nvPicPr>
          <p:cNvPr id="6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d6f48200d40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4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d6f48200d40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4671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5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d6f48200d40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6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d6f48200d40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9243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7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d6f48200d40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8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d6f48200d40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695700"/>
            <a:ext cx="1333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48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c3b2e6cce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86000"/>
            <a:ext cx="11049000" cy="476250"/>
          </a:xfrm>
          <a:prstGeom xmlns:a="http://schemas.openxmlformats.org/drawingml/2006/main" prst="rect">
            <a:avLst/>
          </a:prstGeom>
        </p:spPr>
      </p:pic>
      <p:pic>
        <p:nvPicPr>
          <p:cNvPr id="6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31485afeb45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810250"/>
            <a:ext cx="11049000" cy="9525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3d38b0dad49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000375"/>
            <a:ext cx="3492400" cy="1514475"/>
          </a:xfrm>
          <a:prstGeom xmlns:a="http://schemas.openxmlformats.org/drawingml/2006/main" prst="rect">
            <a:avLst/>
          </a:prstGeom>
        </p:spPr>
      </p:pic>
      <p:pic>
        <p:nvPicPr>
          <p:cNvPr id="7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fd8bb85884b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650" y="3000375"/>
            <a:ext cx="3492549" cy="1514475"/>
          </a:xfrm>
          <a:prstGeom xmlns:a="http://schemas.openxmlformats.org/drawingml/2006/main" prst="rect">
            <a:avLst/>
          </a:prstGeom>
        </p:spPr>
      </p:pic>
      <p:pic>
        <p:nvPicPr>
          <p:cNvPr id="7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3d38b0dad49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950" y="3000375"/>
            <a:ext cx="3492400" cy="1514475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7F9B932-DB3E-4EAE-B536-A7020C3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La solución digitaliza el servicio de principio a fin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719E183-821A-48EA-B6AC-C2EB9255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609CB0C-FD8A-4A40-AED1-475D121A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250"/>
              </a:lnSpc>
              <a:buNone/>
            </a:pPr>
            <a:r>
              <a:rPr sz="1500" b="0" i="0" u="none">
                <a:solidFill>
                  <a:srgbClr val="F8FAFC"/>
                </a:solidFill>
                <a:latin typeface="Inter Medium"/>
                <a:ea typeface="Inter Medium"/>
                <a:cs typeface="Inter Medium"/>
              </a:rPr>
              <a:t>Desarrollar una plataforma web que centralice el flujo principal del servicio técnico, desde el ingreso del equipo hasta su cierre.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F94A703-5C11-4299-8823-2C488BF7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4288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Ingreso</a:t>
            </a:r>
          </a:p>
        </p:txBody>
      </p:sp>
      <p:pic>
        <p:nvPicPr>
          <p:cNvPr id="7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143c6bfee44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38362" y="2438400"/>
            <a:ext cx="104775" cy="171450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4757C96-2011-4855-9B72-7F536A46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2887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Orden</a:t>
            </a:r>
          </a:p>
        </p:txBody>
      </p:sp>
      <p:pic>
        <p:nvPicPr>
          <p:cNvPr id="78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143c6bfee44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3812" y="2438400"/>
            <a:ext cx="104775" cy="17145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CD98711-65A6-41B0-A1BF-106746B8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28875"/>
            <a:ext cx="88582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Diagnóstico</a:t>
            </a:r>
          </a:p>
        </p:txBody>
      </p:sp>
      <p:pic>
        <p:nvPicPr>
          <p:cNvPr id="80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143c6bfee44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8837" y="2438400"/>
            <a:ext cx="104775" cy="171450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203D1DD-74EB-4CA6-AEEF-4F431908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2887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Reparación</a:t>
            </a:r>
          </a:p>
        </p:txBody>
      </p:sp>
      <p:pic>
        <p:nvPicPr>
          <p:cNvPr id="8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143c6bfee44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7187" y="2438400"/>
            <a:ext cx="104775" cy="171450"/>
          </a:xfrm>
          <a:prstGeom xmlns:a="http://schemas.openxmlformats.org/drawingml/2006/main" prst="rect">
            <a:avLst/>
          </a:prstGeom>
        </p:spPr>
      </p:pic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ACE69D-DE89-420C-9257-9E437960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288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Seguimiento</a:t>
            </a:r>
          </a:p>
        </p:txBody>
      </p:sp>
      <p:pic>
        <p:nvPicPr>
          <p:cNvPr id="84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143c6bfee44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10787" y="2438400"/>
            <a:ext cx="104775" cy="171450"/>
          </a:xfrm>
          <a:prstGeom xmlns:a="http://schemas.openxmlformats.org/drawingml/2006/main" prst="rect">
            <a:avLst/>
          </a:prstGeom>
        </p:spPr>
      </p:pic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1A46A6F-1043-4809-933C-D1C7F9B6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4288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Cierre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898CE1C-714E-4EEC-A646-A993A4C5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" y="6019800"/>
            <a:ext cx="1116139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476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 i="0" u="none">
                <a:solidFill>
                  <a:srgbClr val="FBBF24"/>
                </a:solidFill>
                <a:latin typeface="Poppins"/>
                <a:ea typeface="Poppins"/>
                <a:cs typeface="Poppins"/>
              </a:rPr>
              <a:t>Componente Experimental: Machine Learning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5E6C1AB-2311-4060-BD31-15C026BA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106299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FCD34D"/>
                </a:solidFill>
                <a:latin typeface="Inter"/>
                <a:ea typeface="Inter"/>
                <a:cs typeface="Inter"/>
              </a:rPr>
              <a:t>La estimación del tiempo técnico se integrará solo si existen datos suficientes y supera una línea base simple.</a:t>
            </a:r>
          </a:p>
        </p:txBody>
      </p:sp>
      <p:pic>
        <p:nvPicPr>
          <p:cNvPr id="88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eddf118ed40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428875"/>
            <a:ext cx="219075" cy="190500"/>
          </a:xfrm>
          <a:prstGeom xmlns:a="http://schemas.openxmlformats.org/drawingml/2006/main" prst="rect">
            <a:avLst/>
          </a:prstGeom>
        </p:spPr>
      </p:pic>
      <p:pic>
        <p:nvPicPr>
          <p:cNvPr id="89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e8fe4031c4d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57475" y="2428875"/>
            <a:ext cx="219075" cy="190500"/>
          </a:xfrm>
          <a:prstGeom xmlns:a="http://schemas.openxmlformats.org/drawingml/2006/main" prst="rect">
            <a:avLst/>
          </a:prstGeom>
        </p:spPr>
      </p:pic>
      <p:pic>
        <p:nvPicPr>
          <p:cNvPr id="90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d640680ef44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2925" y="2428875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91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c4c1d2c444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428875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92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3457713e74c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96300" y="2428875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93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c7d66871e4f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9900" y="2428875"/>
            <a:ext cx="17145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6882313-22BA-4E2D-8821-E9943ABA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00400"/>
            <a:ext cx="3246968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429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Gestión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ADE1D33-9755-4C2A-9049-AC1B302B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29025"/>
            <a:ext cx="309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Administración centralizada de Clientes, Equipos y Órdenes de servicio.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ED3F912-4FD7-4BEE-B9F3-7AFE4B71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675" y="3200400"/>
            <a:ext cx="3247124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857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Trazabilidad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71D4E01-C831-46BB-8537-64E5E608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675" y="3629025"/>
            <a:ext cx="309249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Control de Estados, Historial, Tiempos (técnico/espera) y Evidencias fotográficas.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50BEB16-3259-4236-93C2-1BC425D8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975" y="3200400"/>
            <a:ext cx="3246968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38125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Operación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E6201FC-5FBB-4810-95A6-467F214D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975" y="3629025"/>
            <a:ext cx="309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Gestión de Repuestos, Proveedores, Costos, Precios, Márgenes y Garantías.</a:t>
            </a:r>
          </a:p>
        </p:txBody>
      </p:sp>
      <p:pic>
        <p:nvPicPr>
          <p:cNvPr id="100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e05f6ca4d48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4948237"/>
            <a:ext cx="219075" cy="285750"/>
          </a:xfrm>
          <a:prstGeom xmlns:a="http://schemas.openxmlformats.org/drawingml/2006/main" prst="rect">
            <a:avLst/>
          </a:prstGeom>
        </p:spPr>
      </p:pic>
      <p:pic>
        <p:nvPicPr>
          <p:cNvPr id="101" name="Pictur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623a37e354d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4948237"/>
            <a:ext cx="323850" cy="285750"/>
          </a:xfrm>
          <a:prstGeom xmlns:a="http://schemas.openxmlformats.org/drawingml/2006/main" prst="rect">
            <a:avLst/>
          </a:prstGeom>
        </p:spPr>
      </p:pic>
      <p:pic>
        <p:nvPicPr>
          <p:cNvPr id="102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d2cdbadfb47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76675" y="6067425"/>
            <a:ext cx="152400" cy="171450"/>
          </a:xfrm>
          <a:prstGeom xmlns:a="http://schemas.openxmlformats.org/drawingml/2006/main" prst="rect">
            <a:avLst/>
          </a:prstGeom>
        </p:spPr>
      </p:pic>
      <p:pic>
        <p:nvPicPr>
          <p:cNvPr id="103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fe9c1065a44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3248025"/>
            <a:ext cx="266700" cy="209550"/>
          </a:xfrm>
          <a:prstGeom xmlns:a="http://schemas.openxmlformats.org/drawingml/2006/main" prst="rect">
            <a:avLst/>
          </a:prstGeom>
        </p:spPr>
      </p:pic>
      <p:pic>
        <p:nvPicPr>
          <p:cNvPr id="104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d1b2c028446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49675" y="324802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105" name="Pictur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38f3a24ee4b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7975" y="3248025"/>
            <a:ext cx="161925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B6F0E151-B10E-419F-83C4-F9C0D313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10125"/>
            <a:ext cx="2870358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Portal Cliente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3ABCFD7-62D5-4657-9DB3-415A9FC3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72075"/>
            <a:ext cx="27336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Consulta del estado mediante código único.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2F456E77-43D7-4A3A-B8F7-FDF91EEA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10125"/>
            <a:ext cx="3570446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Decisiones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2A617048-6F40-4A82-8061-2359F172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72075"/>
            <a:ext cx="34004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Indicadores e Índice de viabilidad (reglas explicables).</a:t>
            </a:r>
          </a:p>
        </p:txBody>
      </p:sp>
    </p:spTree>
    <p:extLst>
      <p:ext uri="{BB962C8B-B14F-4D97-AF65-F5344CB8AC3E}">
        <p14:creationId xmlns:p14="http://schemas.microsoft.com/office/powerpoint/2010/main" val="10601369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8f1dfb0f542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686425"/>
            <a:ext cx="11049000" cy="695325"/>
          </a:xfrm>
          <a:prstGeom xmlns:a="http://schemas.openxmlformats.org/drawingml/2006/main" prst="rect">
            <a:avLst/>
          </a:prstGeom>
        </p:spPr>
      </p:pic>
      <p:pic>
        <p:nvPicPr>
          <p:cNvPr id="3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ca28fd22a44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28850"/>
            <a:ext cx="3492400" cy="3457575"/>
          </a:xfrm>
          <a:prstGeom xmlns:a="http://schemas.openxmlformats.org/drawingml/2006/main" prst="rect">
            <a:avLst/>
          </a:prstGeom>
        </p:spPr>
      </p:pic>
      <p:pic>
        <p:nvPicPr>
          <p:cNvPr id="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11ca31baf40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650" y="2228850"/>
            <a:ext cx="3492549" cy="3457575"/>
          </a:xfrm>
          <a:prstGeom xmlns:a="http://schemas.openxmlformats.org/drawingml/2006/main" prst="rect">
            <a:avLst/>
          </a:prstGeom>
        </p:spPr>
      </p:pic>
      <p:pic>
        <p:nvPicPr>
          <p:cNvPr id="4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45df1f4c14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950" y="2228850"/>
            <a:ext cx="3492400" cy="34575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9AB9FC-B6C7-471A-B542-26454F0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Seis objetivos delimitan una solución realizable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2DF1FF-B5D4-49F7-9BE2-DBC58B1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EE73F95-3C28-4299-875C-C2F3079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1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Objetivo general: centralizar y mantener la trazabilidad de los servicios técnicos, apoyar la operación y entregar información confiable para decidir.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C7C2BE-48E5-4F1E-A87B-22F8FE86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388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524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EF4444"/>
                </a:solidFill>
                <a:latin typeface="Inter SemiBold"/>
                <a:ea typeface="Inter SemiBold"/>
                <a:cs typeface="Inter SemiBold"/>
              </a:rPr>
              <a:t>Fuera del alcance: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AADBA3-0450-4F1A-916A-0422A332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38825"/>
            <a:ext cx="2200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Diagnóstico autónomo por IA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872FCF-11CA-4311-912C-DCBC520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38825"/>
            <a:ext cx="1438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Reparación automática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F2DEE0-562D-4AF3-AB12-9E8D778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38825"/>
            <a:ext cx="23717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WhatsApp obligatorio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AF4AF7-679C-41B6-9A00-805E445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7" y="6038850"/>
            <a:ext cx="145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Facturación electrónica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2B929C-3B16-4B46-85BA-EF34AC7B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1. Digitalizar y trazar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1DE5E5-9949-4DB9-AD56-B054CB7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9048C5C-3BE3-43B2-A93D-9F2100D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369" y="2476500"/>
            <a:ext cx="3147112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2. Controlar la operación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74A91F-CBA0-4190-BA5A-67A0614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300" y="2933700"/>
            <a:ext cx="29972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70C12D-86A6-4B0E-9992-9227995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67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3. Apoyar decisiones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54AA2E3-3646-46B0-B5CF-80C63B4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60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6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773c4d57f4b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2550" y="58578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3FAFC67-9BD9-4A7D-8EC5-ADEE083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Registrar clientes, equipos y órdenes mediante un identificador único.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C24A438-3F86-41E2-9F0A-30192F8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Mantener estados, tiempos, diagnósticos, evidencias, resultados y consulta por código.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5B1FBCD-EE40-4CFE-8A72-021572D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086100"/>
            <a:ext cx="273054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Relacionar repuestos y proveedores con cada reparación.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FD94C2-59E4-4775-8016-63E3F97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886200"/>
            <a:ext cx="273054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Controlar costos, precios, márgenes y garantías.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847088F-8904-4DE9-8687-334616E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Generar indicadores e índice de viabilidad mediante reglas explicables.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B96CC81-67F7-4B6D-AB61-3259AA0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6576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Evaluar ML para tiempo técnico solo cuando los datos lo permitan.</a:t>
            </a:r>
          </a:p>
        </p:txBody>
      </p:sp>
      <p:pic>
        <p:nvPicPr>
          <p:cNvPr id="6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f138680474c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4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f138680474c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4671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5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f138680474c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6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f138680474c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9243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7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f138680474c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8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f138680474c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695700"/>
            <a:ext cx="1333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48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e1a0c747542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276850"/>
            <a:ext cx="11049000" cy="947737"/>
          </a:xfrm>
          <a:prstGeom xmlns:a="http://schemas.openxmlformats.org/drawingml/2006/main" prst="rect">
            <a:avLst/>
          </a:prstGeom>
        </p:spPr>
      </p:pic>
      <p:pic>
        <p:nvPicPr>
          <p:cNvPr id="7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f5da9268247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28750"/>
            <a:ext cx="2583656" cy="2143125"/>
          </a:xfrm>
          <a:prstGeom xmlns:a="http://schemas.openxmlformats.org/drawingml/2006/main" prst="rect">
            <a:avLst/>
          </a:prstGeom>
        </p:spPr>
      </p:pic>
      <p:pic>
        <p:nvPicPr>
          <p:cNvPr id="7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95864360448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3281" y="1428750"/>
            <a:ext cx="2583656" cy="2143125"/>
          </a:xfrm>
          <a:prstGeom xmlns:a="http://schemas.openxmlformats.org/drawingml/2006/main" prst="rect">
            <a:avLst/>
          </a:prstGeom>
        </p:spPr>
      </p:pic>
      <p:pic>
        <p:nvPicPr>
          <p:cNvPr id="7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d530519bd43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5062" y="1428750"/>
            <a:ext cx="2583656" cy="2143125"/>
          </a:xfrm>
          <a:prstGeom xmlns:a="http://schemas.openxmlformats.org/drawingml/2006/main" prst="rect">
            <a:avLst/>
          </a:prstGeom>
        </p:spPr>
      </p:pic>
      <p:pic>
        <p:nvPicPr>
          <p:cNvPr id="7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d530519bd43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6843" y="1428750"/>
            <a:ext cx="2583656" cy="2143125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767DCE2-6CC8-4F3E-85CF-4060EC79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El proyecto integra competencias e intereses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974CA72-8DB4-4914-AF30-59D16AD4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BC1F22D-43CA-4A34-86FA-D757FD76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0" i="0" u="none">
                <a:solidFill>
                  <a:srgbClr val="F8FAFC"/>
                </a:solidFill>
                <a:latin typeface="Inter Medium"/>
                <a:ea typeface="Inter Medium"/>
                <a:cs typeface="Inter Medium"/>
              </a:rPr>
              <a:t>Cada competencia se aplica en evidencias concretas del diseño, desarrollo y validación.</a:t>
            </a:r>
          </a:p>
        </p:txBody>
      </p:sp>
      <p:pic>
        <p:nvPicPr>
          <p:cNvPr id="8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aaf10a2fa4d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4100" y="4257675"/>
            <a:ext cx="7543800" cy="4953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AC217C4-9830-4909-AE44-087A8AA2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1" y="5476875"/>
            <a:ext cx="11181397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 u="none">
                <a:solidFill>
                  <a:srgbClr val="94A3B8"/>
                </a:solidFill>
                <a:latin typeface="Poppins"/>
                <a:ea typeface="Poppins"/>
                <a:cs typeface="Poppins"/>
              </a:rPr>
              <a:t>Intereses profesionales aplicados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0D7F4AC-33FA-49B8-837D-12652CC3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0250"/>
            <a:ext cx="10648950" cy="214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87"/>
              </a:lnSpc>
              <a:buNone/>
            </a:pPr>
            <a:r>
              <a:rPr sz="1125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Juan: datos y ciberseguridad  |  Oscar: backend e integración  |  Rafael: frontend, UX/UI y usabilidad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4A54DE5-2C9E-4E35-9EF0-7D9780FF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28775"/>
            <a:ext cx="2292786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476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Gestión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1EE8EF3-CBCE-4909-A93D-7358A75D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306" y="1628775"/>
            <a:ext cx="2292786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286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Datos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78BA188-759D-4FD2-9EC6-D0F7893A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7" y="1628775"/>
            <a:ext cx="2292786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95275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Software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E5B081A-FCD4-4590-8C71-16CBACAE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868" y="1628775"/>
            <a:ext cx="2292786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476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Calidad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7D42FA7-F0A1-4A56-A2DB-B14D2ED1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100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Problema real</a:t>
            </a:r>
          </a:p>
        </p:txBody>
      </p:sp>
      <p:pic>
        <p:nvPicPr>
          <p:cNvPr id="91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da866d3c64d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0" y="44196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124BF28-C4B7-488B-AD83-1DA81DFC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100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Requerimientos</a:t>
            </a:r>
          </a:p>
        </p:txBody>
      </p:sp>
      <p:pic>
        <p:nvPicPr>
          <p:cNvPr id="93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da866d3c64d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44196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8D2EB93-48FB-4D7F-B716-604A07A1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4100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Diseño</a:t>
            </a:r>
          </a:p>
        </p:txBody>
      </p:sp>
      <p:pic>
        <p:nvPicPr>
          <p:cNvPr id="95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da866d3c64d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4196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27A7DCE-A9AF-4AED-BE4B-3AE9FF9C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410075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Desarrollo</a:t>
            </a:r>
          </a:p>
        </p:txBody>
      </p:sp>
      <p:pic>
        <p:nvPicPr>
          <p:cNvPr id="97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da866d3c64d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44196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253B7BC-A1E4-4365-874A-AECC130B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1007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Pruebas</a:t>
            </a:r>
          </a:p>
        </p:txBody>
      </p:sp>
      <p:pic>
        <p:nvPicPr>
          <p:cNvPr id="9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da866d3c64d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15350" y="44196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D0E5F46-BB76-4C4C-81A8-FE098248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100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</a:rPr>
              <a:t>Validación</a:t>
            </a:r>
          </a:p>
        </p:txBody>
      </p:sp>
      <p:pic>
        <p:nvPicPr>
          <p:cNvPr id="10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88f8c8a9548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6764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10C0976-6C68-49CE-81F3-2A618DD4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0002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Planificación.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1C9FBE1-4B47-47CB-8C16-450A2940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431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Priorización.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A292B0B-F477-4FC8-86B9-6CB7E7E6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6860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Kanban.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4B3298A-B79E-4953-8143-DEE7631A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0289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Gestión de riesgos.</a:t>
            </a:r>
          </a:p>
        </p:txBody>
      </p:sp>
      <p:pic>
        <p:nvPicPr>
          <p:cNvPr id="106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1df8e720c4c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3306" y="16764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932EC26-253A-4450-855F-67C4FA8D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06" y="20002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Diseño de entidades.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704B9FA3-A2E7-4299-A505-C32DD0A6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06" y="23431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Relaciones de modelo.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AC939604-8104-472A-9380-1CC246FE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06" y="2686050"/>
            <a:ext cx="191690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Información estructurada y escalable.</a:t>
            </a:r>
          </a:p>
        </p:txBody>
      </p:sp>
      <p:pic>
        <p:nvPicPr>
          <p:cNvPr id="110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7578b33184b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5087" y="1676400"/>
            <a:ext cx="219075" cy="171450"/>
          </a:xfrm>
          <a:prstGeom xmlns:a="http://schemas.openxmlformats.org/drawingml/2006/main" prst="rect">
            <a:avLst/>
          </a:prstGeom>
        </p:spPr>
      </p:pic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36948D7E-F090-431B-BDFB-C3E82D1D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7" y="20002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Frontend.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2C1FF20-CC9F-4EDF-A8F4-3591855B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7" y="23431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Backend / API.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F84FAE25-15F9-4322-8BAC-BF3024C8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7" y="26860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Persistencia.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02533E0-602D-4B94-8BF7-2DDE640F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7" y="30289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Integración.</a:t>
            </a:r>
          </a:p>
        </p:txBody>
      </p:sp>
      <p:pic>
        <p:nvPicPr>
          <p:cNvPr id="115" name="Pictur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07bac982945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6868" y="16764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80118572-6B27-494C-8B8F-401966C4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568" y="20002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Criterios de aceptación.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65157778-4B69-4EA6-8792-F9FED26B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568" y="23431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Pruebas funcionales.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A60F4AA5-46FA-48D2-9023-CD914216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568" y="26860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Seguridad y Usabilidad.</a:t>
            </a:r>
          </a:p>
        </p:txBody>
      </p:sp>
      <p:pic>
        <p:nvPicPr>
          <p:cNvPr id="119" name="Picture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f68769d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0383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0" name="Picture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f68769d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3812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1" name="Picture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f68769d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7241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2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f68769d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30670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3" name="Picture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f68769d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3306" y="20383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4" name="Picture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f68769d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3306" y="23812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5" name="Picture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f68769d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3306" y="27241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6" name="Picture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f68769d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5087" y="20383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7" name="Picture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f68769d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5087" y="23812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8" name="Pictur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f68769d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5087" y="27241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9" name="Pictur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f68769d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5087" y="30670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30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f68769d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6868" y="20383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31" name="Picture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f68769d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6868" y="23812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32" name="Picture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f68769de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6868" y="2724150"/>
            <a:ext cx="952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55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90BB17A-1B88-4AEE-9DFE-C519490F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Kanban organiza la solución; CRISP-DM guía el experimento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3A92F2E-039C-43E5-8F71-651996BD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Kanban horizontal panel">
            <a:extLst xmlns:a="http://schemas.openxmlformats.org/drawingml/2006/main">
              <a:ext uri="{FF2B5EF4-FFF2-40B4-BE49-F238E27FC236}">
                <a16:creationId xmlns:a16="http://schemas.microsoft.com/office/drawing/2014/main" id="{EC114B97-B25E-4FD6-83B2-81A70C6C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E2A3D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CRISP-DM horizontal panel">
            <a:extLst xmlns:a="http://schemas.openxmlformats.org/drawingml/2006/main">
              <a:ext uri="{FF2B5EF4-FFF2-40B4-BE49-F238E27FC236}">
                <a16:creationId xmlns:a16="http://schemas.microsoft.com/office/drawing/2014/main" id="{06A95C7E-1872-4DFF-8EC1-647D2D2D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104900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1E2A3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7" name="Kanban heading">
            <a:extLst xmlns:a="http://schemas.openxmlformats.org/drawingml/2006/main">
              <a:ext uri="{FF2B5EF4-FFF2-40B4-BE49-F238E27FC236}">
                <a16:creationId xmlns:a16="http://schemas.microsoft.com/office/drawing/2014/main" id="{ADE1DD65-1A8A-442F-85E9-6438ACD8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0A5FA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60A5FA"/>
                </a:solidFill>
                <a:latin typeface="Inter"/>
                <a:ea typeface="Inter"/>
                <a:cs typeface="Inter"/>
              </a:rPr>
              <a:t>KANBAN (Desarrollo de Software)</a:t>
            </a:r>
          </a:p>
        </p:txBody>
      </p:sp>
      <p:sp>
        <p:nvSpPr>
          <p:cNvPr id="18" name="CRISP heading">
            <a:extLst xmlns:a="http://schemas.openxmlformats.org/drawingml/2006/main">
              <a:ext uri="{FF2B5EF4-FFF2-40B4-BE49-F238E27FC236}">
                <a16:creationId xmlns:a16="http://schemas.microsoft.com/office/drawing/2014/main" id="{000402EE-6144-425A-A3CD-E7F3FFE3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BBF24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BBF24"/>
                </a:solidFill>
                <a:latin typeface="Inter"/>
                <a:ea typeface="Inter"/>
                <a:cs typeface="Inter"/>
              </a:rPr>
              <a:t>CRISP-DM (Datos y Machine Learning)</a:t>
            </a:r>
          </a:p>
        </p:txBody>
      </p:sp>
      <p:sp>
        <p:nvSpPr>
          <p:cNvPr id="19" name="Kanban arrow 1">
            <a:extLst xmlns:a="http://schemas.openxmlformats.org/drawingml/2006/main">
              <a:ext uri="{FF2B5EF4-FFF2-40B4-BE49-F238E27FC236}">
                <a16:creationId xmlns:a16="http://schemas.microsoft.com/office/drawing/2014/main" id="{B56D960D-0A44-4309-91EC-82EF8720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8597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0" name="Kanban stage 1">
            <a:extLst xmlns:a="http://schemas.openxmlformats.org/drawingml/2006/main">
              <a:ext uri="{FF2B5EF4-FFF2-40B4-BE49-F238E27FC236}">
                <a16:creationId xmlns:a16="http://schemas.microsoft.com/office/drawing/2014/main" id="{3BCFAA6A-FF10-49C7-B01A-886EFF27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038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444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Pendiente</a:t>
            </a:r>
          </a:p>
        </p:txBody>
      </p:sp>
      <p:sp>
        <p:nvSpPr>
          <p:cNvPr id="21" name="Kanban detail 1">
            <a:extLst xmlns:a="http://schemas.openxmlformats.org/drawingml/2006/main">
              <a:ext uri="{FF2B5EF4-FFF2-40B4-BE49-F238E27FC236}">
                <a16:creationId xmlns:a16="http://schemas.microsoft.com/office/drawing/2014/main" id="{3A0DB772-8E9E-4AF3-B1BA-C4961B7C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1013">
                <a:solidFill>
                  <a:srgbClr val="CBD5E1"/>
                </a:solidFill>
                <a:latin typeface="Inter"/>
                <a:ea typeface="Inter"/>
                <a:cs typeface="Inter"/>
              </a:rPr>
              <a:t>Backlog priorizado</a:t>
            </a:r>
          </a:p>
          <a:p xmlns:a="http://schemas.openxmlformats.org/drawingml/2006/main">
            <a:pPr algn="ctr">
              <a:defRPr sz="1013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1013">
                <a:solidFill>
                  <a:srgbClr val="CBD5E1"/>
                </a:solidFill>
                <a:latin typeface="Inter"/>
                <a:ea typeface="Inter"/>
                <a:cs typeface="Inter"/>
              </a:rPr>
              <a:t>(Épicas + Historias)</a:t>
            </a:r>
          </a:p>
        </p:txBody>
      </p:sp>
      <p:sp>
        <p:nvSpPr>
          <p:cNvPr id="22" name="Kanban arrow 2">
            <a:extLst xmlns:a="http://schemas.openxmlformats.org/drawingml/2006/main">
              <a:ext uri="{FF2B5EF4-FFF2-40B4-BE49-F238E27FC236}">
                <a16:creationId xmlns:a16="http://schemas.microsoft.com/office/drawing/2014/main" id="{96ADD914-96C1-401E-B0C2-0ABB68D0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8597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3" name="Kanban stage 2">
            <a:extLst xmlns:a="http://schemas.openxmlformats.org/drawingml/2006/main">
              <a:ext uri="{FF2B5EF4-FFF2-40B4-BE49-F238E27FC236}">
                <a16:creationId xmlns:a16="http://schemas.microsoft.com/office/drawing/2014/main" id="{272C8C24-0FF4-4819-A778-30328586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038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Análisis / Diseño</a:t>
            </a:r>
          </a:p>
        </p:txBody>
      </p:sp>
      <p:sp>
        <p:nvSpPr>
          <p:cNvPr id="24" name="Kanban detail 2">
            <a:extLst xmlns:a="http://schemas.openxmlformats.org/drawingml/2006/main">
              <a:ext uri="{FF2B5EF4-FFF2-40B4-BE49-F238E27FC236}">
                <a16:creationId xmlns:a16="http://schemas.microsoft.com/office/drawing/2014/main" id="{43F3D7F2-960E-4E9A-B114-4538C28C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860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1013">
                <a:solidFill>
                  <a:srgbClr val="CBD5E1"/>
                </a:solidFill>
                <a:latin typeface="Inter"/>
                <a:ea typeface="Inter"/>
                <a:cs typeface="Inter"/>
              </a:rPr>
              <a:t>Límites WIP</a:t>
            </a:r>
          </a:p>
          <a:p xmlns:a="http://schemas.openxmlformats.org/drawingml/2006/main">
            <a:pPr algn="ctr">
              <a:defRPr sz="1013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1013">
                <a:solidFill>
                  <a:srgbClr val="CBD5E1"/>
                </a:solidFill>
                <a:latin typeface="Inter"/>
                <a:ea typeface="Inter"/>
                <a:cs typeface="Inter"/>
              </a:rPr>
              <a:t>(Work In Progress)</a:t>
            </a:r>
          </a:p>
        </p:txBody>
      </p:sp>
      <p:sp>
        <p:nvSpPr>
          <p:cNvPr id="25" name="Kanban arrow 3">
            <a:extLst xmlns:a="http://schemas.openxmlformats.org/drawingml/2006/main">
              <a:ext uri="{FF2B5EF4-FFF2-40B4-BE49-F238E27FC236}">
                <a16:creationId xmlns:a16="http://schemas.microsoft.com/office/drawing/2014/main" id="{06933795-075B-4A58-AE31-CFBF02E6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8597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4748B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64748B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6" name="Kanban stage 3">
            <a:extLst xmlns:a="http://schemas.openxmlformats.org/drawingml/2006/main">
              <a:ext uri="{FF2B5EF4-FFF2-40B4-BE49-F238E27FC236}">
                <a16:creationId xmlns:a16="http://schemas.microsoft.com/office/drawing/2014/main" id="{15F5EC1D-E7C5-4AE8-B08A-74D2E1F2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2038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Desarrollo &amp; Pruebas</a:t>
            </a:r>
          </a:p>
        </p:txBody>
      </p:sp>
      <p:sp>
        <p:nvSpPr>
          <p:cNvPr id="27" name="Kanban detail 3">
            <a:extLst xmlns:a="http://schemas.openxmlformats.org/drawingml/2006/main">
              <a:ext uri="{FF2B5EF4-FFF2-40B4-BE49-F238E27FC236}">
                <a16:creationId xmlns:a16="http://schemas.microsoft.com/office/drawing/2014/main" id="{C7ECD960-672A-4BE8-835B-1FA85B41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1013">
                <a:solidFill>
                  <a:srgbClr val="CBD5E1"/>
                </a:solidFill>
                <a:latin typeface="Inter"/>
                <a:ea typeface="Inter"/>
                <a:cs typeface="Inter"/>
              </a:rPr>
              <a:t>Definition of Done</a:t>
            </a:r>
          </a:p>
          <a:p xmlns:a="http://schemas.openxmlformats.org/drawingml/2006/main">
            <a:pPr algn="ctr">
              <a:defRPr sz="1013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1013">
                <a:solidFill>
                  <a:srgbClr val="CBD5E1"/>
                </a:solidFill>
                <a:latin typeface="Inter"/>
                <a:ea typeface="Inter"/>
                <a:cs typeface="Inter"/>
              </a:rPr>
              <a:t>(DoD)</a:t>
            </a:r>
          </a:p>
        </p:txBody>
      </p:sp>
      <p:sp>
        <p:nvSpPr>
          <p:cNvPr id="28" name="Kanban stage 4">
            <a:extLst xmlns:a="http://schemas.openxmlformats.org/drawingml/2006/main">
              <a:ext uri="{FF2B5EF4-FFF2-40B4-BE49-F238E27FC236}">
                <a16:creationId xmlns:a16="http://schemas.microsoft.com/office/drawing/2014/main" id="{A18CFE40-33F6-4F70-A7AF-A41910D0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038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Validación &amp; Finalizado</a:t>
            </a:r>
          </a:p>
        </p:txBody>
      </p:sp>
      <p:sp>
        <p:nvSpPr>
          <p:cNvPr id="29" name="Kanban detail 4">
            <a:extLst xmlns:a="http://schemas.openxmlformats.org/drawingml/2006/main">
              <a:ext uri="{FF2B5EF4-FFF2-40B4-BE49-F238E27FC236}">
                <a16:creationId xmlns:a16="http://schemas.microsoft.com/office/drawing/2014/main" id="{ABCAFB8C-E54E-4B0E-BD15-FE3BA140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1013">
                <a:solidFill>
                  <a:srgbClr val="CBD5E1"/>
                </a:solidFill>
                <a:latin typeface="Inter"/>
                <a:ea typeface="Inter"/>
                <a:cs typeface="Inter"/>
              </a:rPr>
              <a:t>Releases incrementales</a:t>
            </a:r>
          </a:p>
          <a:p xmlns:a="http://schemas.openxmlformats.org/drawingml/2006/main">
            <a:pPr algn="ctr">
              <a:defRPr sz="1013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1013">
                <a:solidFill>
                  <a:srgbClr val="CBD5E1"/>
                </a:solidFill>
                <a:latin typeface="Inter"/>
                <a:ea typeface="Inter"/>
                <a:cs typeface="Inter"/>
              </a:rPr>
              <a:t>con evidencia</a:t>
            </a:r>
          </a:p>
        </p:txBody>
      </p:sp>
      <p:sp>
        <p:nvSpPr>
          <p:cNvPr id="30" name="CRISP arrow 1">
            <a:extLst xmlns:a="http://schemas.openxmlformats.org/drawingml/2006/main">
              <a:ext uri="{FF2B5EF4-FFF2-40B4-BE49-F238E27FC236}">
                <a16:creationId xmlns:a16="http://schemas.microsoft.com/office/drawing/2014/main" id="{805B03B5-65C5-4029-B971-0B4B3F08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52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1" name="CRISP stage 1">
            <a:extLst xmlns:a="http://schemas.openxmlformats.org/drawingml/2006/main">
              <a:ext uri="{FF2B5EF4-FFF2-40B4-BE49-F238E27FC236}">
                <a16:creationId xmlns:a16="http://schemas.microsoft.com/office/drawing/2014/main" id="{647C26C3-89A4-4293-99D8-E4A266D0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2038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Comprensión del negocio y los datos</a:t>
            </a:r>
          </a:p>
        </p:txBody>
      </p:sp>
      <p:sp>
        <p:nvSpPr>
          <p:cNvPr id="32" name="CRISP arrow 2">
            <a:extLst xmlns:a="http://schemas.openxmlformats.org/drawingml/2006/main">
              <a:ext uri="{FF2B5EF4-FFF2-40B4-BE49-F238E27FC236}">
                <a16:creationId xmlns:a16="http://schemas.microsoft.com/office/drawing/2014/main" id="{6E0FB8EB-84D6-4870-9C89-69DBC15A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52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3" name="CRISP stage 2">
            <a:extLst xmlns:a="http://schemas.openxmlformats.org/drawingml/2006/main">
              <a:ext uri="{FF2B5EF4-FFF2-40B4-BE49-F238E27FC236}">
                <a16:creationId xmlns:a16="http://schemas.microsoft.com/office/drawing/2014/main" id="{221017B1-455D-4267-A39B-F9B9869A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72000"/>
            <a:ext cx="2038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Preparación de datos</a:t>
            </a:r>
          </a:p>
        </p:txBody>
      </p:sp>
      <p:sp>
        <p:nvSpPr>
          <p:cNvPr id="34" name="CRISP arrow 3">
            <a:extLst xmlns:a="http://schemas.openxmlformats.org/drawingml/2006/main">
              <a:ext uri="{FF2B5EF4-FFF2-40B4-BE49-F238E27FC236}">
                <a16:creationId xmlns:a16="http://schemas.microsoft.com/office/drawing/2014/main" id="{6818ABEB-D895-4DD4-B669-025E7480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2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5" name="CRISP stage 3">
            <a:extLst xmlns:a="http://schemas.openxmlformats.org/drawingml/2006/main">
              <a:ext uri="{FF2B5EF4-FFF2-40B4-BE49-F238E27FC236}">
                <a16:creationId xmlns:a16="http://schemas.microsoft.com/office/drawing/2014/main" id="{B00F664A-3AD8-4854-8EDC-69BF085A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72000"/>
            <a:ext cx="2038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Modelado y evaluación</a:t>
            </a:r>
          </a:p>
        </p:txBody>
      </p:sp>
      <p:sp>
        <p:nvSpPr>
          <p:cNvPr id="36" name="CRISP stage 4">
            <a:extLst xmlns:a="http://schemas.openxmlformats.org/drawingml/2006/main">
              <a:ext uri="{FF2B5EF4-FFF2-40B4-BE49-F238E27FC236}">
                <a16:creationId xmlns:a16="http://schemas.microsoft.com/office/drawing/2014/main" id="{A6C15D9E-A473-4F64-89E7-F158723A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038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5A4D36"/>
          </a:solidFill>
          <a:ln xmlns:a="http://schemas.openxmlformats.org/drawingml/2006/main" w="9525">
            <a:solidFill>
              <a:srgbClr val="5A4D36"/>
            </a:solidFill>
            <a:prstDash val="solid"/>
          </a:ln>
        </p:spPr>
        <p:txBody>
          <a:bodyPr xmlns:a="http://schemas.openxmlformats.org/drawingml/2006/main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BBF24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BBF24"/>
                </a:solidFill>
                <a:latin typeface="Inter"/>
                <a:ea typeface="Inter"/>
                <a:cs typeface="Inter"/>
              </a:rPr>
              <a:t>Integración condicionada</a:t>
            </a:r>
          </a:p>
        </p:txBody>
      </p:sp>
      <p:sp>
        <p:nvSpPr>
          <p:cNvPr id="37" name="CRISP condition note">
            <a:extLst xmlns:a="http://schemas.openxmlformats.org/drawingml/2006/main">
              <a:ext uri="{FF2B5EF4-FFF2-40B4-BE49-F238E27FC236}">
                <a16:creationId xmlns:a16="http://schemas.microsoft.com/office/drawing/2014/main" id="{C662716B-506F-408F-B185-DF577277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lIns="152400" tIns="47625" rIns="1524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CBD5E1"/>
                </a:solidFill>
                <a:latin typeface="Inter"/>
                <a:ea typeface="Inter"/>
                <a:cs typeface="Inter"/>
              </a:rPr>
              <a:t>EP-10 avanza en paralelo y solo se integra si los datos y las métricas justifican su uso.</a:t>
            </a:r>
          </a:p>
        </p:txBody>
      </p:sp>
    </p:spTree>
    <p:extLst>
      <p:ext uri="{BB962C8B-B14F-4D97-AF65-F5344CB8AC3E}">
        <p14:creationId xmlns:p14="http://schemas.microsoft.com/office/powerpoint/2010/main" val="12373553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fb10ade034b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686425"/>
            <a:ext cx="11049000" cy="695325"/>
          </a:xfrm>
          <a:prstGeom xmlns:a="http://schemas.openxmlformats.org/drawingml/2006/main" prst="rect">
            <a:avLst/>
          </a:prstGeom>
        </p:spPr>
      </p:pic>
      <p:pic>
        <p:nvPicPr>
          <p:cNvPr id="3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d17df7b9c43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28850"/>
            <a:ext cx="3492400" cy="3457575"/>
          </a:xfrm>
          <a:prstGeom xmlns:a="http://schemas.openxmlformats.org/drawingml/2006/main" prst="rect">
            <a:avLst/>
          </a:prstGeom>
        </p:spPr>
      </p:pic>
      <p:pic>
        <p:nvPicPr>
          <p:cNvPr id="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3109105bf40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650" y="2228850"/>
            <a:ext cx="3492549" cy="3457575"/>
          </a:xfrm>
          <a:prstGeom xmlns:a="http://schemas.openxmlformats.org/drawingml/2006/main" prst="rect">
            <a:avLst/>
          </a:prstGeom>
        </p:spPr>
      </p:pic>
      <p:pic>
        <p:nvPicPr>
          <p:cNvPr id="4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913a06e7140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950" y="2228850"/>
            <a:ext cx="3492400" cy="34575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9AB9FC-B6C7-471A-B542-26454F0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Roles claros aseguran responsabilidad y colaboración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2DF1FF-B5D4-49F7-9BE2-DBC58B1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EE73F95-3C28-4299-875C-C2F3079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1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Marcos Martini valida el proceso, las reglas y los resultados; el equipo ejecuta tareas visibles y compartidas.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C7C2BE-48E5-4F1E-A87B-22F8FE86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388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524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EF4444"/>
                </a:solidFill>
                <a:latin typeface="Inter SemiBold"/>
                <a:ea typeface="Inter SemiBold"/>
                <a:cs typeface="Inter SemiBold"/>
              </a:rPr>
              <a:t>Colaboración verificable: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AADBA3-0450-4F1A-916A-0422A332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38825"/>
            <a:ext cx="2200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Tablero y responsables visibles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872FCF-11CA-4311-912C-DCBC520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38825"/>
            <a:ext cx="1438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Commits individuales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F2DEE0-562D-4AF3-AB12-9E8D778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38825"/>
            <a:ext cx="23717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Validaciones con Marcos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AF4AF7-679C-41B6-9A00-805E445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7" y="6038850"/>
            <a:ext cx="145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Exposición equitativa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2B929C-3B16-4B46-85BA-EF34AC7B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Juan Valencia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1DE5E5-9949-4DB9-AD56-B054CB7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9048C5C-3BE3-43B2-A93D-9F2100D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369" y="2476500"/>
            <a:ext cx="3147112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Oscar Contreras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74A91F-CBA0-4190-BA5A-67A0614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300" y="2933700"/>
            <a:ext cx="29972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70C12D-86A6-4B0E-9992-9227995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67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Rafael Muñoz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54AA2E3-3646-46B0-B5CF-80C63B4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60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6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65aca38694b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2550" y="58578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3FAFC67-9BD9-4A7D-8EC5-ADEE083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Seguimiento Kanban, prioridades, WIP y bloqueos.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C24A438-3F86-41E2-9F0A-30192F8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Riesgos, evidencias y Definition of Done.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5B1FBCD-EE40-4CFE-8A72-021572D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086100"/>
            <a:ext cx="273054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Backend, modelo de datos e integraciones.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FD94C2-59E4-4775-8016-63E3F97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886200"/>
            <a:ext cx="273054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Preparación de datos y pruebas técnicas.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847088F-8904-4DE9-8687-334616E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Frontend, prototipos y experiencia de usuario.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B96CC81-67F7-4B6D-AB61-3259AA0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6576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Diseño responsivo, usabilidad e integración.</a:t>
            </a:r>
          </a:p>
        </p:txBody>
      </p:sp>
      <p:pic>
        <p:nvPicPr>
          <p:cNvPr id="6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1964493e743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4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1964493e743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4671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5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1964493e743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6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1964493e743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9243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7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1964493e743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8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1964493e743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695700"/>
            <a:ext cx="1333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483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9ddced2a64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686425"/>
            <a:ext cx="11049000" cy="695325"/>
          </a:xfrm>
          <a:prstGeom xmlns:a="http://schemas.openxmlformats.org/drawingml/2006/main" prst="rect">
            <a:avLst/>
          </a:prstGeom>
        </p:spPr>
      </p:pic>
      <p:pic>
        <p:nvPicPr>
          <p:cNvPr id="3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2957ed74a40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28850"/>
            <a:ext cx="3492400" cy="3457575"/>
          </a:xfrm>
          <a:prstGeom xmlns:a="http://schemas.openxmlformats.org/drawingml/2006/main" prst="rect">
            <a:avLst/>
          </a:prstGeom>
        </p:spPr>
      </p:pic>
      <p:pic>
        <p:nvPicPr>
          <p:cNvPr id="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f0896cb0f4c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650" y="2228850"/>
            <a:ext cx="3492549" cy="3457575"/>
          </a:xfrm>
          <a:prstGeom xmlns:a="http://schemas.openxmlformats.org/drawingml/2006/main" prst="rect">
            <a:avLst/>
          </a:prstGeom>
        </p:spPr>
      </p:pic>
      <p:pic>
        <p:nvPicPr>
          <p:cNvPr id="4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21f1f6fc645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950" y="2228850"/>
            <a:ext cx="3492400" cy="34575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9AB9FC-B6C7-471A-B542-26454F0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Diez épicas ordenan el alcance funcional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2DF1FF-B5D4-49F7-9BE2-DBC58B1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EE73F95-3C28-4299-875C-C2F3079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1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Las épicas organizan el backlog y permiten desarrollar la solución de forma incremental y verificable.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C7C2BE-48E5-4F1E-A87B-22F8FE86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388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524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EF4444"/>
                </a:solidFill>
                <a:latin typeface="Inter SemiBold"/>
                <a:ea typeface="Inter SemiBold"/>
                <a:cs typeface="Inter SemiBold"/>
              </a:rPr>
              <a:t>Condición y exclusiones: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AADBA3-0450-4F1A-916A-0422A332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38825"/>
            <a:ext cx="2200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EP-10 es opcional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872FCF-11CA-4311-912C-DCBC520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38825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Sin diagnóstico ni reparación automática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F2DEE0-562D-4AF3-AB12-9E8D778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38825"/>
            <a:ext cx="23717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Sin WhatsApp obligatorio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AF4AF7-679C-41B6-9A00-805E445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7" y="6038850"/>
            <a:ext cx="145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Sin facturación electrónica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2B929C-3B16-4B46-85BA-EF34AC7B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1. Núcleo del servicio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1DE5E5-9949-4DB9-AD56-B054CB7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9048C5C-3BE3-43B2-A93D-9F2100D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369" y="2476500"/>
            <a:ext cx="3147112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2. Gestión operacional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74A91F-CBA0-4190-BA5A-67A0614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300" y="2933700"/>
            <a:ext cx="29972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70C12D-86A6-4B0E-9992-9227995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67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3. Inteligencia y análisis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54AA2E3-3646-46B0-B5CF-80C63B4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60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6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42811cb814d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2550" y="58578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3FAFC67-9BD9-4A7D-8EC5-ADEE083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EP-01 Acceso y seguridad · EP-02 Clientes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C24A438-3F86-41E2-9F0A-30192F8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EP-03 Equipos · EP-04 Órdenes · EP-05 Trazabilidad y consulta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5B1FBCD-EE40-4CFE-8A72-021572D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086100"/>
            <a:ext cx="273054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EP-06 Repuestos y proveedores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FD94C2-59E4-4775-8016-63E3F97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886200"/>
            <a:ext cx="273054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EP-07 Costos y márgenes · EP-08 Garantías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847088F-8904-4DE9-8687-334616E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EP-09 Indicadores e índice de viabilidad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B96CC81-67F7-4B6D-AB61-3259AA0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6576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EP-10 Estimación del tiempo técnico, condicionada a los datos</a:t>
            </a:r>
          </a:p>
        </p:txBody>
      </p:sp>
      <p:pic>
        <p:nvPicPr>
          <p:cNvPr id="6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6ae165a084a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4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6ae165a084a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4671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5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6ae165a084a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6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6ae165a084a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9243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7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6ae165a084a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8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6ae165a084a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695700"/>
            <a:ext cx="1333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483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c7e26c86d4690"/>
          <a:stretch xmlns:a="http://schemas.openxmlformats.org/drawingml/2006/main"/>
        </p:blipFill>
        <p:spPr>
          <a:xfrm xmlns:a="http://schemas.openxmlformats.org/drawingml/2006/main">
            <a:off x="952500" y="0"/>
            <a:ext cx="10287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Architecture subtitle cover">
            <a:extLst xmlns:a="http://schemas.openxmlformats.org/drawingml/2006/main">
              <a:ext uri="{FF2B5EF4-FFF2-40B4-BE49-F238E27FC236}">
                <a16:creationId xmlns:a16="http://schemas.microsoft.com/office/drawing/2014/main" id="{E07E6369-CB8E-4BEF-9DD3-E2BA1F4C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"/>
            <a:ext cx="9429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rchitecture subtitle replacement">
            <a:extLst xmlns:a="http://schemas.openxmlformats.org/drawingml/2006/main">
              <a:ext uri="{FF2B5EF4-FFF2-40B4-BE49-F238E27FC236}">
                <a16:creationId xmlns:a16="http://schemas.microsoft.com/office/drawing/2014/main" id="{21823749-82AF-4EAB-B6FF-EB2764F3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86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D"/>
                </a:solidFill>
                <a:latin typeface="Arial"/>
                <a:ea typeface="Arial"/>
                <a:cs typeface="Arial"/>
              </a:rPr>
              <a:t>Solución web con trazabilidad, consulta de clientes, analítica e integración predictiva condicionada a los datos</a:t>
            </a:r>
          </a:p>
        </p:txBody>
      </p:sp>
    </p:spTree>
    <p:extLst>
      <p:ext uri="{BB962C8B-B14F-4D97-AF65-F5344CB8AC3E}">
        <p14:creationId xmlns:p14="http://schemas.microsoft.com/office/powerpoint/2010/main" val="6312308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E2EA60-0D52-4E0E-8EF4-464F49C5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Carta Gantt: 18 semanas de trabajo verificable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D2FBA4D-A196-4201-AD34-E7D1674A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510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</a:tblGrid>
              <a:tr h="295275">
                <a:tc rowSpan="2"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Actividad</a:t>
                      </a:r>
                    </a:p>
                  </a:txBody>
                  <a:tcPr marL="95250" marR="76200" marT="19050" marB="19050" anchor="ctr" horzOverflow="clip">
                    <a:solidFill>
                      <a:srgbClr val="FFFFFF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Fase 1</a:t>
                      </a:r>
                    </a:p>
                  </a:txBody>
                  <a:tcPr marL="38100" marR="38100" marT="19050" marB="19050" anchor="ctr" horzOverflow="clip">
                    <a:solidFill>
                      <a:srgbClr val="E2EFD9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E2EFD9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E2EFD9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E2EFD9"/>
                    </a:solidFill>
                  </a:tcPr>
                </a:tc>
                <a:tc gridSpan="1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Fase 2</a:t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Fase 3</a:t>
                      </a:r>
                    </a:p>
                  </a:txBody>
                  <a:tcPr marL="38100" marR="38100" marT="19050" marB="19050" anchor="ctr" horzOverflow="clip">
                    <a:solidFill>
                      <a:srgbClr val="FBE4D5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BE4D5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BE4D5"/>
                    </a:solidFill>
                  </a:tcPr>
                </a:tc>
              </a:tr>
              <a:tr h="295275">
                <a:tc vMerge="1"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95250" marR="762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S2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S3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S4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S5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S6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S7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S8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S9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S10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S11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S12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S13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S14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S15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S16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S17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S18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Gestión y seguimiento con Kanban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Levantamiento del proceso y Canvas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Definición de requisitos y alcance de la solución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Planificación, roadmap y riesgos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Arquitectura, modelo de datos y prototipos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Datos del piloto (10 casos)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Base, acceso y roles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Clientes, equipos y órdenes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Estados, tiempos y consulta del cliente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Repuestos, costos, proveedores y garantías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Pruebas y validación continua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Panel e índice de viabilidad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Evaluación ML del tiempo técnico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Integración y estabilización de la solución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UAT, despliegue y cierre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6473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852967e8f4e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2000250"/>
            <a:ext cx="5334000" cy="14859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c4caf89aa42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171950"/>
            <a:ext cx="5334000" cy="1438275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16369A9-2E95-41D8-9F88-542235B6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La Fase 1 deja el proyecto listo para construir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E28AA15-73D7-49A8-B329-FB012AFF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8FB8D7B-20F8-42B6-B02E-6CF89C17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250"/>
              </a:lnSpc>
              <a:buNone/>
            </a:pPr>
            <a:r>
              <a:rPr sz="15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La propuesta reúne definición, diseño técnico, responsabilidades, evidencias y un plan verificable.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812E5BF-1915-49B3-867A-2A88BA09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531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200" b="0" i="1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Siguiente paso: prototipar, implementar y validar cada incremento con Martini Cell.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B2D64B6-D084-4936-850C-D3F8EF9C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Problema respaldado con evidencia real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7C2263E-E3DC-4E9E-836D-C7CCC2C0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Misión, visión, usuarios y valor alineados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BEBBE56-FCF2-4007-88A9-3F98643D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Objetivos y alcance de la solución definidos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7537CBF-F3FB-4EB1-A444-2819703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Kanban y ruta de datos establecidos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4052FC-3C76-4EC2-8B44-2D9C784A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Diez épicas organizan el backlog funcional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9EA00B-F0B4-4582-A275-CEBB27F6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Arquitectura y seguridad propuestas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62F7AE5-BEBD-4FBB-83EA-EE134EA2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Plan de 18 semanas, recursos y riesgos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4CBB7FD-A9F6-4F55-B5E4-3AA68524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Evidencias de avance y cierre definidas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44752FA-C2EB-4C01-8B9E-BD3C4338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508063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857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Evidencias de la Fase 1</a:t>
            </a:r>
          </a:p>
        </p:txBody>
      </p:sp>
      <p:pic>
        <p:nvPicPr>
          <p:cNvPr id="6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486aaaccc47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7984" y="4748212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65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7e7ded3c34d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295525"/>
            <a:ext cx="190500" cy="171450"/>
          </a:xfrm>
          <a:prstGeom xmlns:a="http://schemas.openxmlformats.org/drawingml/2006/main" prst="rect">
            <a:avLst/>
          </a:prstGeom>
        </p:spPr>
      </p:pic>
      <p:pic>
        <p:nvPicPr>
          <p:cNvPr id="66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a3a3002f24d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647950"/>
            <a:ext cx="1276350" cy="247650"/>
          </a:xfrm>
          <a:prstGeom xmlns:a="http://schemas.openxmlformats.org/drawingml/2006/main" prst="rect">
            <a:avLst/>
          </a:prstGeom>
        </p:spPr>
      </p:pic>
      <p:pic>
        <p:nvPicPr>
          <p:cNvPr id="67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ac674326140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2647950"/>
            <a:ext cx="628650" cy="247650"/>
          </a:xfrm>
          <a:prstGeom xmlns:a="http://schemas.openxmlformats.org/drawingml/2006/main" prst="rect">
            <a:avLst/>
          </a:prstGeom>
        </p:spPr>
      </p:pic>
      <p:pic>
        <p:nvPicPr>
          <p:cNvPr id="68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9ab2bd69f49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29650" y="2647950"/>
            <a:ext cx="857250" cy="24765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fe191e8c747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150" y="2647950"/>
            <a:ext cx="885825" cy="24765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993ed6f7b4c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990850"/>
            <a:ext cx="914400" cy="24765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14cf2a5db4c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2990850"/>
            <a:ext cx="1190625" cy="247650"/>
          </a:xfrm>
          <a:prstGeom xmlns:a="http://schemas.openxmlformats.org/drawingml/2006/main" prst="rect">
            <a:avLst/>
          </a:prstGeom>
        </p:spPr>
      </p:pic>
      <p:pic>
        <p:nvPicPr>
          <p:cNvPr id="72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3433f799b43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9675" y="2990850"/>
            <a:ext cx="1057275" cy="247650"/>
          </a:xfrm>
          <a:prstGeom xmlns:a="http://schemas.openxmlformats.org/drawingml/2006/main" prst="rect">
            <a:avLst/>
          </a:prstGeom>
        </p:spPr>
      </p:pic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255B9A3-60A8-4593-A37D-A391D55A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1875234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</a:rPr>
              <a:t>FASE 1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754CD255-3CBF-43BF-9EF7-F61843B6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57725"/>
            <a:ext cx="1968996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Definición validada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8D7D781-4C78-4A46-84F7-EE0AE0F3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234" y="4457700"/>
            <a:ext cx="222051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</a:rPr>
              <a:t>FASE 2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34F0AF4-7F97-466C-BD29-4EE12FED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234" y="4657725"/>
            <a:ext cx="2331541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Construcción de la solución</a:t>
            </a:r>
          </a:p>
        </p:txBody>
      </p:sp>
      <p:pic>
        <p:nvPicPr>
          <p:cNvPr id="77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48755350440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575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8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48755350440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2004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9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48755350440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433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0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48755350440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8862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1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48755350440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2291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2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48755350440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5720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3" name="Pictur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48755350440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9149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4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48755350440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257800"/>
            <a:ext cx="15240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391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2026-09-05T03:44:35.1410000Z</dcterms:created>
  <dcterms:modified xsi:type="dcterms:W3CDTF">2026-09-05T03:44:35.1410000Z</dcterms:modified>
</coreProperties>
</file>