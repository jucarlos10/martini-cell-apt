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2b49c2d4f47c8" /><Relationship Type="http://schemas.openxmlformats.org/officeDocument/2006/relationships/extended-properties" Target="/docProps/app.xml" Id="R392c72972b064ab9" /><Relationship Type="http://schemas.openxmlformats.org/officeDocument/2006/relationships/officeDocument" Target="/ppt/presentation.xml" Id="R19cc5098b1d341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735a27525401d"/>
  </p:sldMasterIdLst>
  <p:notesMasterIdLst>
    <p:notesMasterId xmlns:r="http://schemas.openxmlformats.org/officeDocument/2006/relationships" r:id="Ra19f3daca5c945d7"/>
  </p:notesMasterIdLst>
  <p:sldIdLst>
    <p:sldId xmlns:r="http://schemas.openxmlformats.org/officeDocument/2006/relationships" id="256" r:id="R672e6c1c7e64445d"/>
    <p:sldId xmlns:r="http://schemas.openxmlformats.org/officeDocument/2006/relationships" id="257" r:id="Re6e43465bfdf41ea"/>
    <p:sldId xmlns:r="http://schemas.openxmlformats.org/officeDocument/2006/relationships" id="258" r:id="R638d7f022855489b"/>
    <p:sldId xmlns:r="http://schemas.openxmlformats.org/officeDocument/2006/relationships" id="259" r:id="R366d5cf5b3d0424d"/>
    <p:sldId xmlns:r="http://schemas.openxmlformats.org/officeDocument/2006/relationships" id="260" r:id="R2af5d58cf8dd4ca9"/>
    <p:sldId xmlns:r="http://schemas.openxmlformats.org/officeDocument/2006/relationships" id="261" r:id="R778100c3efae4a79"/>
    <p:sldId xmlns:r="http://schemas.openxmlformats.org/officeDocument/2006/relationships" id="262" r:id="Re171ccdf10b04199"/>
    <p:sldId xmlns:r="http://schemas.openxmlformats.org/officeDocument/2006/relationships" id="263" r:id="R036ddfdbd3f747ad"/>
    <p:sldId xmlns:r="http://schemas.openxmlformats.org/officeDocument/2006/relationships" id="264" r:id="Ra3e53d29fbb6469f"/>
    <p:sldId xmlns:r="http://schemas.openxmlformats.org/officeDocument/2006/relationships" id="265" r:id="Rd5237c057f9e435d"/>
    <p:sldId xmlns:r="http://schemas.openxmlformats.org/officeDocument/2006/relationships" id="266" r:id="R997533f1977740c0"/>
    <p:sldId xmlns:r="http://schemas.openxmlformats.org/officeDocument/2006/relationships" id="267" r:id="R035491fc232e42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143a52ea1f47aa" /><Relationship Type="http://schemas.openxmlformats.org/officeDocument/2006/relationships/slideMaster" Target="/ppt/slideMasters/slideMaster1.xml" Id="Rf4b735a27525401d" /><Relationship Type="http://schemas.openxmlformats.org/officeDocument/2006/relationships/notesMaster" Target="/ppt/notesMasters/notesMaster1.xml" Id="Ra19f3daca5c945d7" /><Relationship Type="http://schemas.openxmlformats.org/officeDocument/2006/relationships/presProps" Target="/ppt/presProps.xml" Id="Ra0e4d46605874e82" /><Relationship Type="http://schemas.openxmlformats.org/officeDocument/2006/relationships/viewProps" Target="/ppt/viewProps.xml" Id="Rb1b56dd55794401b" /><Relationship Type="http://schemas.openxmlformats.org/officeDocument/2006/relationships/tableStyles" Target="/ppt/tableStyles.xml" Id="Ra512bf05931e4bff" /><Relationship Type="http://schemas.openxmlformats.org/officeDocument/2006/relationships/slide" Target="/ppt/slides/slide1.xml" Id="R672e6c1c7e64445d" /><Relationship Type="http://schemas.openxmlformats.org/officeDocument/2006/relationships/slide" Target="/ppt/slides/slide2.xml" Id="Re6e43465bfdf41ea" /><Relationship Type="http://schemas.openxmlformats.org/officeDocument/2006/relationships/slide" Target="/ppt/slides/slide3.xml" Id="R638d7f022855489b" /><Relationship Type="http://schemas.openxmlformats.org/officeDocument/2006/relationships/slide" Target="/ppt/slides/slide4.xml" Id="R366d5cf5b3d0424d" /><Relationship Type="http://schemas.openxmlformats.org/officeDocument/2006/relationships/slide" Target="/ppt/slides/slide5.xml" Id="R2af5d58cf8dd4ca9" /><Relationship Type="http://schemas.openxmlformats.org/officeDocument/2006/relationships/slide" Target="/ppt/slides/slide6.xml" Id="R778100c3efae4a79" /><Relationship Type="http://schemas.openxmlformats.org/officeDocument/2006/relationships/slide" Target="/ppt/slides/slide7.xml" Id="Re171ccdf10b04199" /><Relationship Type="http://schemas.openxmlformats.org/officeDocument/2006/relationships/slide" Target="/ppt/slides/slide8.xml" Id="R036ddfdbd3f747ad" /><Relationship Type="http://schemas.openxmlformats.org/officeDocument/2006/relationships/slide" Target="/ppt/slides/slide9.xml" Id="Ra3e53d29fbb6469f" /><Relationship Type="http://schemas.openxmlformats.org/officeDocument/2006/relationships/slide" Target="/ppt/slides/slide10.xml" Id="Rd5237c057f9e435d" /><Relationship Type="http://schemas.openxmlformats.org/officeDocument/2006/relationships/slide" Target="/ppt/slides/slide11.xml" Id="R997533f1977740c0" /><Relationship Type="http://schemas.openxmlformats.org/officeDocument/2006/relationships/slide" Target="/ppt/slides/slide12.xml" Id="R035491fc232e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660f919a0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f790e8dc54044" /><Relationship Type="http://schemas.openxmlformats.org/officeDocument/2006/relationships/notesMaster" Target="/ppt/notesMasters/notesMaster1.xml" Id="Rcd2f6a1e5d2642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bff9455c3d4aab" /><Relationship Type="http://schemas.openxmlformats.org/officeDocument/2006/relationships/notesMaster" Target="/ppt/notesMasters/notesMaster1.xml" Id="Rdbb6ade52fc24c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ba3bdf92464d81" /><Relationship Type="http://schemas.openxmlformats.org/officeDocument/2006/relationships/notesMaster" Target="/ppt/notesMasters/notesMaster1.xml" Id="R7c79215103b4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d68f845b74cf2" /><Relationship Type="http://schemas.openxmlformats.org/officeDocument/2006/relationships/notesMaster" Target="/ppt/notesMasters/notesMaster1.xml" Id="R83116c2e1011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be0e9e5cc74778" /><Relationship Type="http://schemas.openxmlformats.org/officeDocument/2006/relationships/notesMaster" Target="/ppt/notesMasters/notesMaster1.xml" Id="R0323de6d2d3d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08efddc298426a" /><Relationship Type="http://schemas.openxmlformats.org/officeDocument/2006/relationships/notesMaster" Target="/ppt/notesMasters/notesMaster1.xml" Id="R6197f32489db4a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008d9665ad4090" /><Relationship Type="http://schemas.openxmlformats.org/officeDocument/2006/relationships/notesMaster" Target="/ppt/notesMasters/notesMaster1.xml" Id="R17d750e8fd564c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467f978fb5450d" /><Relationship Type="http://schemas.openxmlformats.org/officeDocument/2006/relationships/notesMaster" Target="/ppt/notesMasters/notesMaster1.xml" Id="R607f44f1b5e542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58b370ada1423b" /><Relationship Type="http://schemas.openxmlformats.org/officeDocument/2006/relationships/notesMaster" Target="/ppt/notesMasters/notesMaster1.xml" Id="R35461692afcc4b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297fbdd50b4f00" /><Relationship Type="http://schemas.openxmlformats.org/officeDocument/2006/relationships/notesMaster" Target="/ppt/notesMasters/notesMaster1.xml" Id="R440680ce13cf40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8d469e94fd43b1" /><Relationship Type="http://schemas.openxmlformats.org/officeDocument/2006/relationships/notesMaster" Target="/ppt/notesMasters/notesMaster1.xml" Id="R909f436485fd4e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1669865494b50" /><Relationship Type="http://schemas.openxmlformats.org/officeDocument/2006/relationships/notesMaster" Target="/ppt/notesMasters/notesMaster1.xml" Id="R664fe291af8948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Abrir indicando que la propuesta responde a una necesidad real de Martini Cell y que la Fase 1 deja definido un MVP realizable, trazable y validable.</a:t>
            </a:r>
          </a:p>
          <a:p xmlns:a="http://schemas.openxmlformats.org/drawingml/2006/main">
            <a:r>
              <a:t>Nombrar brevemente al equipo y a Marcos Martini como contraparte.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(1)(1).docx.</a:t>
            </a:r>
          </a:p>
          <a:p xmlns:a="http://schemas.openxmlformats.org/drawingml/2006/main">
            <a:r>
              <a:t>- Imagen de portada heredada: https://framerusercontent.com/images/O4kiqMkRzsLCh911zugAcZ9wK4.jpg?width=3228&amp;height=2160</a:t>
            </a:r>
          </a:p>
          <a:p xmlns:a="http://schemas.openxmlformats.org/drawingml/2006/main">
            <a:r>
              <a:t>- Origen indicado en la presentación original: https://www.framer.com/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el flujo actual: guías en papel, planillas sueltas, mensajería y organización física.</a:t>
            </a:r>
          </a:p>
          <a:p xmlns:a="http://schemas.openxmlformats.org/drawingml/2006/main">
            <a:r>
              <a:t>Evidencia: aproximadamente 35 a 45 equipos por semana y 6 a 10 consultas diarias por estado.</a:t>
            </a:r>
          </a:p>
          <a:p xmlns:a="http://schemas.openxmlformats.org/drawingml/2006/main">
            <a:r>
              <a:t>Cerrar con la consecuencia: el problema no es solo administrativo; afecta trazabilidad, servicio al cliente y decisiones técnicas y comerciales.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Relevancia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La misión expresa lo que el proyecto hará durante el semestre; la visión describe el estado futuro buscado para Martini Cell.</a:t>
            </a:r>
          </a:p>
          <a:p xmlns:a="http://schemas.openxmlformats.org/drawingml/2006/main">
            <a:r>
              <a:t>Enfatizar que la plataforma apoya a Marcos y al ayudante, pero no reemplaza el criterio profesional del técnico.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Visión del Proyecto Martini Cell.</a:t>
            </a:r>
          </a:p>
          <a:p xmlns:a="http://schemas.openxmlformats.org/drawingml/2006/main">
            <a:r>
              <a:t>- 1.5_Definicion_Proyecto_APT_Martini_Cell(corregido) (1).docx, Descripción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Recorrer el flujo de izquierda a derecha: ingreso, orden, diagnóstico, reparación, seguimiento y cierre.</a:t>
            </a:r>
          </a:p>
          <a:p xmlns:a="http://schemas.openxmlformats.org/drawingml/2006/main">
            <a:r>
              <a:t>Distinguir tres capacidades: gestión, trazabilidad y operación; luego mencionar consulta por código e indicadores.</a:t>
            </a:r>
          </a:p>
          <a:p xmlns:a="http://schemas.openxmlformats.org/drawingml/2006/main">
            <a:r>
              <a:t>Aclarar que el índice de viabilidad es explicable y orientativo. No existe diagnóstico autónomo ni decisión automática.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Descripción del Proyecto APT y alcance del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seis objetivos específicos se agrupan en tres resultados: trazabilidad, operación y apoyo a decisiones.</a:t>
            </a:r>
          </a:p>
          <a:p xmlns:a="http://schemas.openxmlformats.org/drawingml/2006/main">
            <a:r>
              <a:t>El límite de alcance protege la factibilidad del proyecto. La predicción es experimental; el MVP puede terminarse sin ella.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Objetivos.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Relacionar cada competencia con una acción: Kanban y riesgos; modelo relacional; frontend, API e integración; criterios de aceptación y pruebas.</a:t>
            </a:r>
          </a:p>
          <a:p xmlns:a="http://schemas.openxmlformats.org/drawingml/2006/main">
            <a:r>
              <a:t>Cada integrante debe decir en primera persona cómo su área de interés se refleja en su aporte. Esto responde al componente individual de la rúbrica.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- 1.4_APT122_FormativaFase1 (1).docx, relación con perfil de egreso e intereses.</a:t>
            </a:r>
          </a:p>
          <a:p xmlns:a="http://schemas.openxmlformats.org/drawingml/2006/main">
            <a:r>
              <a:t>- PLANILLA DE EVALUACIÓN FASE 1.xlsx, indicadores 2 y 3.</a:t>
            </a:r>
          </a:p>
          <a:p xmlns:a="http://schemas.openxmlformats.org/drawingml/2006/main">
            <a:r>
              <a:t>- 1.2_APT122_DiarioReflexionFase1 .docx, intereses de Juan Valencia.</a:t>
            </a:r>
          </a:p>
          <a:p xmlns:a="http://schemas.openxmlformats.org/drawingml/2006/main">
            <a:r>
              <a:t>- Documento_de_Vision_y_Roles_Martini_Cell (1) (1)(1).docx, responsabilidades de Oscar Contreras y Rafael Muñoz.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Kanban es la metodología oficial del proyecto: backlog, flujo visible, límites WIP, tareas bloqueadas, Definition of Done y releases.</a:t>
            </a:r>
          </a:p>
          <a:p xmlns:a="http://schemas.openxmlformats.org/drawingml/2006/main">
            <a:r>
              <a:t>CRISP-DM no reemplaza Kanban; se aplica únicamente a la ruta experimental de datos y Machine Learning.</a:t>
            </a:r>
          </a:p>
          <a:p xmlns:a="http://schemas.openxmlformats.org/drawingml/2006/main">
            <a:r>
              <a:t>La DoD exige criterios de aceptación cumplidos, pruebas ejecutadas, evidencia registrada y validación cuando corresponda.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sección Metodología.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Explicar que los roles no crean silos: los tres desarrollan, integran y prueban, pero cada uno lidera un frente verificable.</a:t>
            </a:r>
          </a:p>
          <a:p xmlns:a="http://schemas.openxmlformats.org/drawingml/2006/main">
            <a:r>
              <a:t>La participación se evidenciará mediante tablero, commits, documentos, pruebas y actas de validación.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Documento_de_Vision_y_Roles_Martini_Cell (1) (1)(1).docx, Definición de Roles.</a:t>
            </a:r>
          </a:p>
          <a:p xmlns:a="http://schemas.openxmlformats.org/drawingml/2006/main">
            <a:r>
              <a:t>- PLANILLA DE EVALUACIÓN FASE 1.xlsx, indicador 13: colaboración y trabajo en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los tres bloques funcionales y evitar enumerar demasiado. La idea principal es que el backlog cubre el flujo central, la operación y el apoyo analítico.</a:t>
            </a:r>
          </a:p>
          <a:p xmlns:a="http://schemas.openxmlformats.org/drawingml/2006/main">
            <a:r>
              <a:t>EP-10 es el único componente condicionado por suficiencia y calidad de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Documento_de_Epicas_Martini_Cell.docx, Épicas para el proyecto Martini Cell.</a:t>
            </a:r>
          </a:p>
          <a:p xmlns:a="http://schemas.openxmlformats.org/drawingml/2006/main">
            <a:r>
              <a:t>- 1.5_Definicion_Proyecto_APT_Martini_Cell(corregido) (1).docx, alcance obligatorio del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Oscar Contreras.</a:t>
            </a:r>
          </a:p>
          <a:p xmlns:a="http://schemas.openxmlformats.org/drawingml/2006/main">
            <a:r>
              <a:t>Explicar el recorrido: usuarios y navegador; interfaz Vue.js; API y lógica en Python con Django REST; PostgreSQL; Firebase Storage; analítica condicionada; Docker para despliegue.</a:t>
            </a:r>
          </a:p>
          <a:p xmlns:a="http://schemas.openxmlformats.org/drawingml/2006/main">
            <a:r>
              <a:t>PostgreSQL es la recomendación inicial y el proveedor de nube continúa por definir.</a:t>
            </a:r>
          </a:p>
          <a:p xmlns:a="http://schemas.openxmlformats.org/drawingml/2006/main">
            <a:r>
              <a:t>Seguridad transversal: HTTPS, roles, auditoría, anonimización y respaldos.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WhatsApp Image 2026-08-31 at 3.24.31 PM.jpeg, arquitectura corregida proporcionada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Juan Valencia.</a:t>
            </a:r>
          </a:p>
          <a:p xmlns:a="http://schemas.openxmlformats.org/drawingml/2006/main">
            <a:r>
              <a:t>Explicar que la Carta Gantt reproduce las actividades y duraciones establecidas en el documento 1.5 corregido.</a:t>
            </a:r>
          </a:p>
          <a:p xmlns:a="http://schemas.openxmlformats.org/drawingml/2006/main">
            <a:r>
              <a:t>Destacar tres trabajos transversales: seguimiento Kanban durante las 18 semanas, preparación progresiva de los 10 casos y pruebas continuas entre las semanas 5 y 15.</a:t>
            </a:r>
          </a:p>
          <a:p xmlns:a="http://schemas.openxmlformats.org/drawingml/2006/main">
            <a:r>
              <a:t>Los hitos principales son: alcance validado en S4, núcleo de órdenes en S8, operación integrada en S12, candidato a MVP en S15 y cierre en S18.</a:t>
            </a:r>
          </a:p>
          <a:p xmlns:a="http://schemas.openxmlformats.org/drawingml/2006/main">
            <a:r>
              <a:t>La evaluación de Machine Learning ocurre entre S13 y S15, pero continúa condicionada a la suficiencia y calidad de los datos.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(1)(1).docx, secciones Plan de Trabajo y Carta Gantt.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Presenta: Rafael Muñoz.</a:t>
            </a:r>
          </a:p>
          <a:p xmlns:a="http://schemas.openxmlformats.org/drawingml/2006/main">
            <a:r>
              <a:t>Cerrar conectando la evidencia de Fase 1 con la construcción de Fase 2. No prometer resultados todavía no obtenidos.</a:t>
            </a:r>
          </a:p>
          <a:p xmlns:a="http://schemas.openxmlformats.org/drawingml/2006/main">
            <a:r>
              <a:t>Reforzar que el equipo conoce el alcance, las responsabilidades y los criterios para considerar una funcionalidad terminada.</a:t>
            </a:r>
          </a:p>
          <a:p xmlns:a="http://schemas.openxmlformats.org/drawingml/2006/main">
            <a:r>
              <a:t>Invitar a preguntas y responder usando lenguaje técnico, pero explicando cada concepto con claridad.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- 1.5_Definicion_Proyecto_APT_Martini_Cell(corregido) (1).docx, secciones Evidencias y Plan de Trabajo.</a:t>
            </a:r>
          </a:p>
          <a:p xmlns:a="http://schemas.openxmlformats.org/drawingml/2006/main">
            <a:r>
              <a:t>- PLANILLA DE EVALUACIÓN FASE 1.xlsx, criterios grupales e individuales.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5e641abd046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6cfaf724e49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5f9c8b3d247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f25ae156343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534e4afd341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b776369ae462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f4639a78643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eab8bab9646c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40307944040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abae7d6db4a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94468f65b4e4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54300A-8780-404F-B96D-E0AEC32700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2C3191-91F6-483C-B2C8-9A2812E959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045F4-15F2-4621-9C60-6AD6235563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F9023E-547C-4496-ADF6-5294D318BF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2B74F6-FF13-4F96-BC40-2BD4F21821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20B4B-6C07-4FF8-9225-245C7A080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765F5D-70C1-4075-B012-11D2FC88FD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3B583E-A334-4BB6-899C-5DCFC9849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12DAB9-81C9-4124-B18B-B0AE61B20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9FDD61-E757-44E3-84B9-756A18E14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7DFE04-AE3F-4356-9F97-FEAF4FFD4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0064FA-4A80-435B-80B8-46CBF89BE1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B13E3-9978-4C7F-A721-453197098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DD9675-2C7C-4CB8-9E0D-396A5A3458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A0885F-6195-4DC6-8DB6-12F914F0C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9055E4-262E-4524-BE7F-80DD3A4D7A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EA24-228E-4FF6-8289-B7EA143731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AD10D9-3B75-4C18-8649-0CFE62DC26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4C12B71-3B4F-4FFC-9F74-3B8AA31950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9F2F6B-912D-4610-B317-9247D0AD9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AF4603-260E-4CBE-A0DE-C53D6C448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C5690-9857-42BF-AD58-35353085E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D5B7FE-1A8A-4060-975F-40710E0807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72BBF6-F84D-4032-95A8-C1E34AC783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60C0C69-4DA4-4FFA-B2D5-C2F1D29A7A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4E37175-D4C1-4CD2-AE0B-7E6F4D2423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A80D519-595D-4432-94A5-80A5EC76D4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7CB6321-E77F-4411-94B2-A8951E6671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CB8AD61-EE62-48F4-8343-7CD3F7F5A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4B93EC-02B8-40A3-AE4D-1BF5381E3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4C15A42-F9C1-438A-846B-4F3FDCE9DA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49922F9-E20B-45D9-A467-4C19CB12C5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83092E-A370-406D-881B-3B0766E5E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9F35AF9-DCFF-4E36-B595-B6BC374C2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48D2A1B-2D72-4B49-84D5-853109D443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267B13-FDE9-4D5D-91D0-50764BC9C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718FDB-4B02-4720-9841-8DBE59EB26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D3CA33-2168-44BC-AA52-BB246DBBDD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E0A38A-5904-4654-BEAC-89A7AED1A6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2F60AA-377F-4EBE-B234-5235A81E79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E305729-DEAC-45FE-97B8-471E9D7CAF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BAED3A-DF9F-4B0F-974F-335922A255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8FB771-301D-404D-A42E-A00972B3E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10A63F-20BF-468A-9066-0BF2F1F8B27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C8EC26-6DB2-4C03-80AB-1B5D12C185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034E11-3E4C-4679-810B-F4020FB29D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AC5C422-F338-4C07-ADAA-4B1EAD00F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87A1F3-43BD-4B02-B873-E488513F39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157199-6F01-451A-BC77-D9E201749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580E25-FF2F-4A80-86AF-69A31393E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DAA286-C3BC-4192-A8D3-A55581A2D6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AC35AC-5E09-49BE-95AD-5DAAD7BA4D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CFA4F8-D2E3-402E-B234-98D2E6D76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1198E63-4FC1-419F-A9E7-17D491582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D587DA-D027-4562-AD1B-70757E0F1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42A1C1-6647-45CB-8513-C492C2C68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BA78B7-338C-449B-A068-6D4FDC389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6E7C19-68D9-4BAC-9763-78577F1D2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df0b95fdb3459a" /><Relationship Type="http://schemas.openxmlformats.org/officeDocument/2006/relationships/slideLayout" Target="/ppt/slideLayouts/slideLayout1.xml" Id="R61c99bb8ce6149c6" /><Relationship Type="http://schemas.openxmlformats.org/officeDocument/2006/relationships/slideLayout" Target="/ppt/slideLayouts/slideLayout2.xml" Id="Ra4a5b90fb1754de0" /><Relationship Type="http://schemas.openxmlformats.org/officeDocument/2006/relationships/slideLayout" Target="/ppt/slideLayouts/slideLayout3.xml" Id="R05fdda069eb94d9d" /><Relationship Type="http://schemas.openxmlformats.org/officeDocument/2006/relationships/slideLayout" Target="/ppt/slideLayouts/slideLayout4.xml" Id="Rdec566a416944e13" /><Relationship Type="http://schemas.openxmlformats.org/officeDocument/2006/relationships/slideLayout" Target="/ppt/slideLayouts/slideLayout5.xml" Id="Rb7f325499f834391" /><Relationship Type="http://schemas.openxmlformats.org/officeDocument/2006/relationships/slideLayout" Target="/ppt/slideLayouts/slideLayout6.xml" Id="R974f713b83ce495f" /><Relationship Type="http://schemas.openxmlformats.org/officeDocument/2006/relationships/slideLayout" Target="/ppt/slideLayouts/slideLayout7.xml" Id="R81b2b0c91ba44f91" /><Relationship Type="http://schemas.openxmlformats.org/officeDocument/2006/relationships/slideLayout" Target="/ppt/slideLayouts/slideLayout8.xml" Id="R3825f231bb0144e1" /><Relationship Type="http://schemas.openxmlformats.org/officeDocument/2006/relationships/slideLayout" Target="/ppt/slideLayouts/slideLayout9.xml" Id="Ra1e7e0095e66469e" /><Relationship Type="http://schemas.openxmlformats.org/officeDocument/2006/relationships/slideLayout" Target="/ppt/slideLayouts/slideLayout10.xml" Id="Ref30caa8cc8e4385" /><Relationship Type="http://schemas.openxmlformats.org/officeDocument/2006/relationships/slideLayout" Target="/ppt/slideLayouts/slideLayout11.xml" Id="Rc8323358c095491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41DE628-855A-46BB-AF43-C9AD74C4F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F3501A-B81D-46AD-997D-21C93EF9A9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39F289-7A07-4C70-9339-7559CD77A95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8C6A1D-F1E5-4278-A024-DF65C9CAB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CD5268-2895-40DF-94EE-0337AABB28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99bb8ce6149c6"/>
    <p:sldLayoutId xmlns:r="http://schemas.openxmlformats.org/officeDocument/2006/relationships" id="2147483650" r:id="Ra4a5b90fb1754de0"/>
    <p:sldLayoutId xmlns:r="http://schemas.openxmlformats.org/officeDocument/2006/relationships" id="2147483651" r:id="R05fdda069eb94d9d"/>
    <p:sldLayoutId xmlns:r="http://schemas.openxmlformats.org/officeDocument/2006/relationships" id="2147483652" r:id="Rdec566a416944e13"/>
    <p:sldLayoutId xmlns:r="http://schemas.openxmlformats.org/officeDocument/2006/relationships" id="2147483653" r:id="Rb7f325499f834391"/>
    <p:sldLayoutId xmlns:r="http://schemas.openxmlformats.org/officeDocument/2006/relationships" id="2147483654" r:id="R974f713b83ce495f"/>
    <p:sldLayoutId xmlns:r="http://schemas.openxmlformats.org/officeDocument/2006/relationships" id="2147483655" r:id="R81b2b0c91ba44f91"/>
    <p:sldLayoutId xmlns:r="http://schemas.openxmlformats.org/officeDocument/2006/relationships" id="2147483656" r:id="R3825f231bb0144e1"/>
    <p:sldLayoutId xmlns:r="http://schemas.openxmlformats.org/officeDocument/2006/relationships" id="2147483657" r:id="Ra1e7e0095e66469e"/>
    <p:sldLayoutId xmlns:r="http://schemas.openxmlformats.org/officeDocument/2006/relationships" id="2147483658" r:id="Ref30caa8cc8e4385"/>
    <p:sldLayoutId xmlns:r="http://schemas.openxmlformats.org/officeDocument/2006/relationships" id="2147483659" r:id="Rc8323358c095491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652fc4eabc4c87" /><Relationship Type="http://schemas.openxmlformats.org/officeDocument/2006/relationships/image" Target="/ppt/media/image.png" Id="Rf3d5e6a1186e40d0" /><Relationship Type="http://schemas.openxmlformats.org/officeDocument/2006/relationships/notesSlide" Target="/ppt/notesSlides/notesSlide1.xml" Id="R39a16f17da0f4b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3bc93a26f34fb7" /><Relationship Type="http://schemas.openxmlformats.org/officeDocument/2006/relationships/image" Target="/ppt/media/image2.png" Id="Rb05f2750da8a42cb" /><Relationship Type="http://schemas.openxmlformats.org/officeDocument/2006/relationships/image" Target="/ppt/media/image3.png" Id="Rde0b1ddd3f6f40de" /><Relationship Type="http://schemas.openxmlformats.org/officeDocument/2006/relationships/image" Target="/ppt/media/image4.png" Id="Rcfe2ba4830604f21" /><Relationship Type="http://schemas.openxmlformats.org/officeDocument/2006/relationships/image" Target="/ppt/media/image5.png" Id="R2e900026afc6479d" /><Relationship Type="http://schemas.openxmlformats.org/officeDocument/2006/relationships/image" Target="/ppt/media/image6.png" Id="R946d2e97fe374dfc" /><Relationship Type="http://schemas.openxmlformats.org/officeDocument/2006/relationships/image" Target="/ppt/media/image7.png" Id="R5ca888ac39e14d71" /><Relationship Type="http://schemas.openxmlformats.org/officeDocument/2006/relationships/image" Target="/ppt/media/image8.png" Id="R3ac393d223c141d8" /><Relationship Type="http://schemas.openxmlformats.org/officeDocument/2006/relationships/image" Target="/ppt/media/image9.png" Id="R711d867cdfb847c0" /><Relationship Type="http://schemas.openxmlformats.org/officeDocument/2006/relationships/image" Target="/ppt/media/image10.png" Id="Rccebccf0844c4cee" /><Relationship Type="http://schemas.openxmlformats.org/officeDocument/2006/relationships/image" Target="/ppt/media/image11.png" Id="R26cfc95feee1472c" /><Relationship Type="http://schemas.openxmlformats.org/officeDocument/2006/relationships/image" Target="/ppt/media/image12.png" Id="R399c1c438cec4088" /><Relationship Type="http://schemas.openxmlformats.org/officeDocument/2006/relationships/image" Target="/ppt/media/image13.png" Id="R1903924398044b29" /><Relationship Type="http://schemas.openxmlformats.org/officeDocument/2006/relationships/image" Target="/ppt/media/image14.png" Id="R7cbae39b7f08488d" /><Relationship Type="http://schemas.openxmlformats.org/officeDocument/2006/relationships/notesSlide" Target="/ppt/notesSlides/notesSlide2.xml" Id="R02803284943b44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81195488834dc5" /><Relationship Type="http://schemas.openxmlformats.org/officeDocument/2006/relationships/image" Target="/ppt/media/image15.png" Id="R317456bd71ca4e27" /><Relationship Type="http://schemas.openxmlformats.org/officeDocument/2006/relationships/image" Target="/ppt/media/image16.png" Id="R7920e4a3ffd247de" /><Relationship Type="http://schemas.openxmlformats.org/officeDocument/2006/relationships/image" Target="/ppt/media/image17.png" Id="Ree298971b62e4cff" /><Relationship Type="http://schemas.openxmlformats.org/officeDocument/2006/relationships/image" Target="/ppt/media/image18.png" Id="Rd1555417695f4776" /><Relationship Type="http://schemas.openxmlformats.org/officeDocument/2006/relationships/image" Target="/ppt/media/image19.png" Id="R80f2637c5b834e23" /><Relationship Type="http://schemas.openxmlformats.org/officeDocument/2006/relationships/image" Target="/ppt/media/image20.png" Id="R393ede0ef36e4d74" /><Relationship Type="http://schemas.openxmlformats.org/officeDocument/2006/relationships/notesSlide" Target="/ppt/notesSlides/notesSlide3.xml" Id="R50b27244dbae4e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d3dece35cb4ea8" /><Relationship Type="http://schemas.openxmlformats.org/officeDocument/2006/relationships/image" Target="/ppt/media/image21.png" Id="Rb4d430bb8985473a" /><Relationship Type="http://schemas.openxmlformats.org/officeDocument/2006/relationships/image" Target="/ppt/media/image22.png" Id="R7de29a60e1b84a86" /><Relationship Type="http://schemas.openxmlformats.org/officeDocument/2006/relationships/image" Target="/ppt/media/image23.png" Id="R7285e1465bfd48d0" /><Relationship Type="http://schemas.openxmlformats.org/officeDocument/2006/relationships/image" Target="/ppt/media/image24.png" Id="Ra7947495bc7941b7" /><Relationship Type="http://schemas.openxmlformats.org/officeDocument/2006/relationships/image" Target="/ppt/media/image25.png" Id="Rfd1908ff0dc14664" /><Relationship Type="http://schemas.openxmlformats.org/officeDocument/2006/relationships/image" Target="/ppt/media/image26.png" Id="Rfa6eacbe58724bde" /><Relationship Type="http://schemas.openxmlformats.org/officeDocument/2006/relationships/image" Target="/ppt/media/image27.png" Id="R152c3d7ff7554aba" /><Relationship Type="http://schemas.openxmlformats.org/officeDocument/2006/relationships/image" Target="/ppt/media/image28.png" Id="R7a2c912c13d74808" /><Relationship Type="http://schemas.openxmlformats.org/officeDocument/2006/relationships/image" Target="/ppt/media/image29.png" Id="R6f0444ab188f4414" /><Relationship Type="http://schemas.openxmlformats.org/officeDocument/2006/relationships/image" Target="/ppt/media/image30.png" Id="R25dd49b3d612445f" /><Relationship Type="http://schemas.openxmlformats.org/officeDocument/2006/relationships/image" Target="/ppt/media/image31.png" Id="R1c78a6cebe974397" /><Relationship Type="http://schemas.openxmlformats.org/officeDocument/2006/relationships/image" Target="/ppt/media/image32.png" Id="R2d879debc0f44f02" /><Relationship Type="http://schemas.openxmlformats.org/officeDocument/2006/relationships/image" Target="/ppt/media/image33.png" Id="R2d1ebe2332a643d1" /><Relationship Type="http://schemas.openxmlformats.org/officeDocument/2006/relationships/image" Target="/ppt/media/image34.png" Id="R607ded0d94a14fbb" /><Relationship Type="http://schemas.openxmlformats.org/officeDocument/2006/relationships/image" Target="/ppt/media/image35.png" Id="R8cd8977872c644fa" /><Relationship Type="http://schemas.openxmlformats.org/officeDocument/2006/relationships/image" Target="/ppt/media/image36.png" Id="Raf28b7f8bfd44805" /><Relationship Type="http://schemas.openxmlformats.org/officeDocument/2006/relationships/image" Target="/ppt/media/image37.png" Id="R0b8d9e2b31c44a53" /><Relationship Type="http://schemas.openxmlformats.org/officeDocument/2006/relationships/notesSlide" Target="/ppt/notesSlides/notesSlide4.xml" Id="R79bed8a20fbc49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9ccbf0efaa454b" /><Relationship Type="http://schemas.openxmlformats.org/officeDocument/2006/relationships/image" Target="/ppt/media/image15.png" Id="R8917e5ec185642eb" /><Relationship Type="http://schemas.openxmlformats.org/officeDocument/2006/relationships/image" Target="/ppt/media/image16.png" Id="R2b0f312fd3c54721" /><Relationship Type="http://schemas.openxmlformats.org/officeDocument/2006/relationships/image" Target="/ppt/media/image17.png" Id="Rd2d532cac8894240" /><Relationship Type="http://schemas.openxmlformats.org/officeDocument/2006/relationships/image" Target="/ppt/media/image18.png" Id="Ra5a3a4e975374743" /><Relationship Type="http://schemas.openxmlformats.org/officeDocument/2006/relationships/image" Target="/ppt/media/image19.png" Id="Re0c52ab13e864c32" /><Relationship Type="http://schemas.openxmlformats.org/officeDocument/2006/relationships/image" Target="/ppt/media/image20.png" Id="R45b0ef433336449f" /><Relationship Type="http://schemas.openxmlformats.org/officeDocument/2006/relationships/notesSlide" Target="/ppt/notesSlides/notesSlide5.xml" Id="R8c7ba28b3ca44d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59424f76bf4c4c" /><Relationship Type="http://schemas.openxmlformats.org/officeDocument/2006/relationships/image" Target="/ppt/media/image38.png" Id="R4ca824492db34dfe" /><Relationship Type="http://schemas.openxmlformats.org/officeDocument/2006/relationships/image" Target="/ppt/media/image39.png" Id="R0913e994906e42e8" /><Relationship Type="http://schemas.openxmlformats.org/officeDocument/2006/relationships/image" Target="/ppt/media/image40.png" Id="R7d92da5c888a44b8" /><Relationship Type="http://schemas.openxmlformats.org/officeDocument/2006/relationships/image" Target="/ppt/media/image41.png" Id="Ra459c5d9b7124503" /><Relationship Type="http://schemas.openxmlformats.org/officeDocument/2006/relationships/image" Target="/ppt/media/image42.png" Id="Rd99a0bae75b34338" /><Relationship Type="http://schemas.openxmlformats.org/officeDocument/2006/relationships/image" Target="/ppt/media/image43.png" Id="R1c39a4720cc743a4" /><Relationship Type="http://schemas.openxmlformats.org/officeDocument/2006/relationships/image" Target="/ppt/media/image44.png" Id="R964751ae43dc42ee" /><Relationship Type="http://schemas.openxmlformats.org/officeDocument/2006/relationships/image" Target="/ppt/media/image45.png" Id="Rac5f3f88a6824e26" /><Relationship Type="http://schemas.openxmlformats.org/officeDocument/2006/relationships/image" Target="/ppt/media/image46.png" Id="R5394c96b9b7d4417" /><Relationship Type="http://schemas.openxmlformats.org/officeDocument/2006/relationships/image" Target="/ppt/media/image47.png" Id="R3e0d5f383aeb42f6" /><Relationship Type="http://schemas.openxmlformats.org/officeDocument/2006/relationships/image" Target="/ppt/media/image48.png" Id="Rbd61ddb7486944c2" /><Relationship Type="http://schemas.openxmlformats.org/officeDocument/2006/relationships/notesSlide" Target="/ppt/notesSlides/notesSlide6.xml" Id="Ra3489ddba6974a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38a3896811495b" /><Relationship Type="http://schemas.openxmlformats.org/officeDocument/2006/relationships/image" Target="/ppt/media/image49.png" Id="Ra712e25dd2a445ca" /><Relationship Type="http://schemas.openxmlformats.org/officeDocument/2006/relationships/image" Target="/ppt/media/image50.png" Id="R5c1761d71b8b4839" /><Relationship Type="http://schemas.openxmlformats.org/officeDocument/2006/relationships/image" Target="/ppt/media/image51.png" Id="R193b4ca9cc7446c2" /><Relationship Type="http://schemas.openxmlformats.org/officeDocument/2006/relationships/image" Target="/ppt/media/image52.png" Id="Rbcf5d7fe5664418c" /><Relationship Type="http://schemas.openxmlformats.org/officeDocument/2006/relationships/image" Target="/ppt/media/image53.png" Id="R45768be1137d4fb6" /><Relationship Type="http://schemas.openxmlformats.org/officeDocument/2006/relationships/image" Target="/ppt/media/image54.png" Id="R25288add7fe347a8" /><Relationship Type="http://schemas.openxmlformats.org/officeDocument/2006/relationships/image" Target="/ppt/media/image55.png" Id="Rad86df916fbb4f95" /><Relationship Type="http://schemas.openxmlformats.org/officeDocument/2006/relationships/image" Target="/ppt/media/image56.png" Id="Ra44c689ce4fd4cda" /><Relationship Type="http://schemas.openxmlformats.org/officeDocument/2006/relationships/image" Target="/ppt/media/image57.png" Id="R054a2ec1dc6f4ae8" /><Relationship Type="http://schemas.openxmlformats.org/officeDocument/2006/relationships/image" Target="/ppt/media/image58.png" Id="R4bbfa8c946d940c2" /><Relationship Type="http://schemas.openxmlformats.org/officeDocument/2006/relationships/image" Target="/ppt/media/image59.png" Id="R9d8c33fd3884485b" /><Relationship Type="http://schemas.openxmlformats.org/officeDocument/2006/relationships/image" Target="/ppt/media/image60.png" Id="Re7b4201644334105" /><Relationship Type="http://schemas.openxmlformats.org/officeDocument/2006/relationships/image" Target="/ppt/media/image61.png" Id="R9532520cca0a4777" /><Relationship Type="http://schemas.openxmlformats.org/officeDocument/2006/relationships/image" Target="/ppt/media/image62.png" Id="R9b2c307954ff4c0c" /><Relationship Type="http://schemas.openxmlformats.org/officeDocument/2006/relationships/image" Target="/ppt/media/image63.png" Id="R2f9a34e07f7048b1" /><Relationship Type="http://schemas.openxmlformats.org/officeDocument/2006/relationships/notesSlide" Target="/ppt/notesSlides/notesSlide7.xml" Id="R738dfacba0544a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d3904a2f4146dc" /><Relationship Type="http://schemas.openxmlformats.org/officeDocument/2006/relationships/image" Target="/ppt/media/image15.png" Id="R00e8a30b7971462f" /><Relationship Type="http://schemas.openxmlformats.org/officeDocument/2006/relationships/image" Target="/ppt/media/image16.png" Id="R528c757a00b44619" /><Relationship Type="http://schemas.openxmlformats.org/officeDocument/2006/relationships/image" Target="/ppt/media/image17.png" Id="R1cf819c4c63a4ac2" /><Relationship Type="http://schemas.openxmlformats.org/officeDocument/2006/relationships/image" Target="/ppt/media/image18.png" Id="R013c79055ba74aee" /><Relationship Type="http://schemas.openxmlformats.org/officeDocument/2006/relationships/image" Target="/ppt/media/image19.png" Id="Rf0f3dcc31f864b57" /><Relationship Type="http://schemas.openxmlformats.org/officeDocument/2006/relationships/image" Target="/ppt/media/image20.png" Id="Readf07f2f42c40c8" /><Relationship Type="http://schemas.openxmlformats.org/officeDocument/2006/relationships/notesSlide" Target="/ppt/notesSlides/notesSlide8.xml" Id="Re48fb99fe9e347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4a0254635844b3" /><Relationship Type="http://schemas.openxmlformats.org/officeDocument/2006/relationships/image" Target="/ppt/media/image15.png" Id="Rf7a47dd57ac74f9c" /><Relationship Type="http://schemas.openxmlformats.org/officeDocument/2006/relationships/image" Target="/ppt/media/image16.png" Id="R9be3f91de4df427b" /><Relationship Type="http://schemas.openxmlformats.org/officeDocument/2006/relationships/image" Target="/ppt/media/image17.png" Id="Rceedfae56f94476c" /><Relationship Type="http://schemas.openxmlformats.org/officeDocument/2006/relationships/image" Target="/ppt/media/image18.png" Id="Rcf560350581647e2" /><Relationship Type="http://schemas.openxmlformats.org/officeDocument/2006/relationships/image" Target="/ppt/media/image19.png" Id="R4bf8730805cd4094" /><Relationship Type="http://schemas.openxmlformats.org/officeDocument/2006/relationships/image" Target="/ppt/media/image20.png" Id="Re5a3e732de8044b5" /><Relationship Type="http://schemas.openxmlformats.org/officeDocument/2006/relationships/notesSlide" Target="/ppt/notesSlides/notesSlide9.xml" Id="Ra8f3182ded5d4a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697a31eb724ed4" /><Relationship Type="http://schemas.openxmlformats.org/officeDocument/2006/relationships/image" Target="/ppt/media/image.jpeg" Id="R226be34899174a05" /><Relationship Type="http://schemas.openxmlformats.org/officeDocument/2006/relationships/notesSlide" Target="/ppt/notesSlides/notesSlide10.xml" Id="Rd358e5531dc6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65eab5c7e34dd9" /><Relationship Type="http://schemas.openxmlformats.org/officeDocument/2006/relationships/notesSlide" Target="/ppt/notesSlides/notesSlide11.xml" Id="Rdcf1587b8bd641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15648f6488474e" /><Relationship Type="http://schemas.openxmlformats.org/officeDocument/2006/relationships/image" Target="/ppt/media/image64.png" Id="Rb53cb2ef60ae43d0" /><Relationship Type="http://schemas.openxmlformats.org/officeDocument/2006/relationships/image" Target="/ppt/media/image65.png" Id="Re26922a0758240a0" /><Relationship Type="http://schemas.openxmlformats.org/officeDocument/2006/relationships/image" Target="/ppt/media/image66.png" Id="R75bc5a5bbf5d4c08" /><Relationship Type="http://schemas.openxmlformats.org/officeDocument/2006/relationships/image" Target="/ppt/media/image67.png" Id="Rda4965bbd3be4e08" /><Relationship Type="http://schemas.openxmlformats.org/officeDocument/2006/relationships/image" Target="/ppt/media/image68.png" Id="R4d9acfd0a65e4e89" /><Relationship Type="http://schemas.openxmlformats.org/officeDocument/2006/relationships/image" Target="/ppt/media/image69.png" Id="Rda373a113e9e4ebc" /><Relationship Type="http://schemas.openxmlformats.org/officeDocument/2006/relationships/image" Target="/ppt/media/image70.png" Id="Rc49284b834dd4836" /><Relationship Type="http://schemas.openxmlformats.org/officeDocument/2006/relationships/image" Target="/ppt/media/image71.png" Id="Rd92689269fff476a" /><Relationship Type="http://schemas.openxmlformats.org/officeDocument/2006/relationships/image" Target="/ppt/media/image72.png" Id="R07691b89913a4422" /><Relationship Type="http://schemas.openxmlformats.org/officeDocument/2006/relationships/image" Target="/ppt/media/image73.png" Id="R595d51ad5da04e9e" /><Relationship Type="http://schemas.openxmlformats.org/officeDocument/2006/relationships/image" Target="/ppt/media/image74.png" Id="Rf300d969bd1d4884" /><Relationship Type="http://schemas.openxmlformats.org/officeDocument/2006/relationships/image" Target="/ppt/media/image75.png" Id="Redbea3257594402d" /><Relationship Type="http://schemas.openxmlformats.org/officeDocument/2006/relationships/notesSlide" Target="/ppt/notesSlides/notesSlide12.xml" Id="R846fe278bc334f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0A1B9B8-8CA6-4E22-9F18-6512C6DC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854"/>
            <a:ext cx="5200650" cy="3268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90"/>
              </a:lnSpc>
              <a:buNone/>
            </a:pPr>
            <a:r>
              <a:rPr sz="3900" b="1" i="0" u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Plataforma web inteligente para la gestión y trazabilidad de servicios técnicos en Martini Cell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2D2D235-12EF-4300-8CCC-BDE64F10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995"/>
            <a:ext cx="495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3B82F6"/>
                </a:solidFill>
                <a:latin typeface="Inter SemiBold"/>
                <a:ea typeface="Inter SemiBold"/>
                <a:cs typeface="Inter SemiBold"/>
              </a:rPr>
              <a:t>Proyecto APT – Fase 1: Definición y Diseño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5e6a1186e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32BD3FF-3B12-482A-BDAD-A30B35A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92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Ingeniería en Informática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AA20327-62BF-4D2A-86C3-F5690F7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402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Duoc UC – Sede Viña del Mar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EFF4FE-21C5-400B-8966-6298E5C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7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Integrantes: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CC0D49-F4EA-4A65-983B-0A211A6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5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Juan Valencia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0B0D34-619B-4608-ADFD-C5CB257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60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Oscar Contreras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2D0B9B7-0432-4E34-9070-1122E4F1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654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E2E8F0"/>
                </a:solidFill>
                <a:latin typeface="Inter Medium"/>
                <a:ea typeface="Inter Medium"/>
                <a:cs typeface="Inter Medium"/>
              </a:rPr>
              <a:t>Rafael Muñoz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19717A-E2D0-4559-B46A-1434913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75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Contraparte:</a:t>
            </a:r>
            <a:r>
              <a:rPr sz="120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Marcos Martini – Martini Cell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BCD069-1D74-4CF1-8AC0-326DC64F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234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1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Sección 001V · Docente: Jorge Gómez · Año 2026</a:t>
            </a:r>
          </a:p>
        </p:txBody>
      </p:sp>
    </p:spTree>
    <p:extLst>
      <p:ext uri="{BB962C8B-B14F-4D97-AF65-F5344CB8AC3E}">
        <p14:creationId xmlns:p14="http://schemas.microsoft.com/office/powerpoint/2010/main" val="147339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f2750da8a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953125"/>
            <a:ext cx="5334000" cy="666750"/>
          </a:xfrm>
          <a:prstGeom xmlns:a="http://schemas.openxmlformats.org/drawingml/2006/main" prst="rect">
            <a:avLst/>
          </a:prstGeom>
        </p:spPr>
      </p:pic>
      <p:pic>
        <p:nvPicPr>
          <p:cNvPr id="4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b1ddd3f6f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181225"/>
            <a:ext cx="5334000" cy="1295400"/>
          </a:xfrm>
          <a:prstGeom xmlns:a="http://schemas.openxmlformats.org/drawingml/2006/main" prst="rect">
            <a:avLst/>
          </a:prstGeom>
        </p:spPr>
      </p:pic>
      <p:pic>
        <p:nvPicPr>
          <p:cNvPr id="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2ba4830604f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667125"/>
            <a:ext cx="5334000" cy="838200"/>
          </a:xfrm>
          <a:prstGeom xmlns:a="http://schemas.openxmlformats.org/drawingml/2006/main" prst="rect">
            <a:avLst/>
          </a:prstGeom>
        </p:spPr>
      </p:pic>
      <p:pic>
        <p:nvPicPr>
          <p:cNvPr id="4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00026afc647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717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d2e97fe37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42900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88ac39e1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86250"/>
            <a:ext cx="5334000" cy="590550"/>
          </a:xfrm>
          <a:prstGeom xmlns:a="http://schemas.openxmlformats.org/drawingml/2006/main" prst="rect">
            <a:avLst/>
          </a:prstGeom>
        </p:spPr>
      </p:pic>
      <p:pic>
        <p:nvPicPr>
          <p:cNvPr id="4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393d223c1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143500"/>
            <a:ext cx="5334000" cy="59055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939A77-4320-4BD1-A506-D71C556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fragmentación actual reduce trazabilidad y control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511B7E-6EEE-48CA-AE36-835D217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C62BF3-BC21-4F8D-A819-945019B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3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Martini Cell es una PYME chilena dedicada al diagnóstico y reparación de celulares y computadores, operativa desde noviembre de 2018.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3676A57-A072-4C41-82C6-14C0752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Proceso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 actual de </a:t>
            </a: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información</a:t>
            </a:r>
            <a:endParaRPr sz="1350" b="0" i="0" u="none">
              <a:solidFill>
                <a:srgbClr val="94A3B8"/>
              </a:solidFill>
              <a:latin typeface="Poppins SemiBold"/>
              <a:ea typeface="Poppins SemiBold"/>
              <a:cs typeface="Poppins SemiBold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ABAB06C-1293-4CD9-884E-F4E8517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91075"/>
            <a:ext cx="560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</a:rPr>
              <a:t>Principales problemas identificados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87D7CD-93F2-47C0-BE78-693269F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CA5A5"/>
                </a:solidFill>
                <a:latin typeface="Inter Medium"/>
                <a:ea typeface="Inter Medium"/>
                <a:cs typeface="Inter Medium"/>
              </a:rPr>
              <a:t>Problema central: información fragmentada, baja trazabilidad y decisiones con evidencia incompleta.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D4F7AA4-E405-4445-B97A-B6AF3E5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48234"/>
            <a:ext cx="139585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35–45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480776-624F-4ACA-9419-33153AB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458" y="2638425"/>
            <a:ext cx="3328541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quipos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recibidos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aproximadamente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por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6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semana</a:t>
            </a:r>
            <a:endParaRPr sz="16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553FD00-A90D-4FA7-B089-F42874C1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200" b="1" i="0" u="none">
                <a:solidFill>
                  <a:srgbClr val="3B82F6"/>
                </a:solidFill>
                <a:latin typeface="Poppins"/>
                <a:ea typeface="Poppins"/>
                <a:cs typeface="Poppins"/>
              </a:rPr>
              <a:t>6–10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CDC7F6-0DA2-447E-82E5-4F5F959E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99097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C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onsultas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diarias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sobre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el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estado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 de </a:t>
            </a:r>
            <a:r>
              <a:rPr sz="12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reparaciones</a:t>
            </a:r>
            <a:endParaRPr sz="1200" b="0" i="0" u="none">
              <a:solidFill>
                <a:srgbClr val="CBD5E1"/>
              </a:solidFill>
              <a:latin typeface="Inter Medium"/>
              <a:ea typeface="Inter Medium"/>
              <a:cs typeface="Inter Medium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741B349-5AEE-4000-8296-F551C4C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625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Falta de trazabilidad completa de las reparaciones.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2EBC40-90AA-4070-91C1-019CCB9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Alto nivel de trabajo manual y redundante.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150972C-6C84-4BAC-880F-AD214D1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483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localizar y relacionar repuestos.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5EABF7-CDFF-447C-A0E2-1050B30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91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Dificultad para controlar garantías y retiros.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2F01B59-800C-4182-B6FE-BAD88952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5341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Poca visibilidad sobre costos, precios y márgenes.</a:t>
            </a:r>
          </a:p>
        </p:txBody>
      </p:sp>
      <p:pic>
        <p:nvPicPr>
          <p:cNvPr id="65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d867cdfb847c0"/>
          <a:srcRect xmlns:a="http://schemas.openxmlformats.org/drawingml/2006/main" l="46152" t="-6487" r="44764" b="-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2271" y="2676525"/>
            <a:ext cx="881178" cy="394566"/>
          </a:xfrm>
          <a:prstGeom xmlns:a="http://schemas.openxmlformats.org/drawingml/2006/main" prst="rect">
            <a:avLst/>
          </a:prstGeom>
        </p:spPr>
      </p:pic>
      <p:pic>
        <p:nvPicPr>
          <p:cNvPr id="66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bccf0844c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32099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fc95feee1472c"/>
          <a:srcRect xmlns:a="http://schemas.openxmlformats.org/drawingml/2006/main" l="46329" t="-10349" r="45888" b="-1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3533775"/>
            <a:ext cx="816293" cy="405765"/>
          </a:xfrm>
          <a:prstGeom xmlns:a="http://schemas.openxmlformats.org/drawingml/2006/main" prst="rect">
            <a:avLst/>
          </a:prstGeom>
        </p:spPr>
      </p:pic>
      <p:pic>
        <p:nvPicPr>
          <p:cNvPr id="68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bccf0844c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06717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c1c438cec4088"/>
          <a:srcRect xmlns:a="http://schemas.openxmlformats.org/drawingml/2006/main" l="46385" t="0" r="46405" b="-18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1963" y="4391025"/>
            <a:ext cx="816293" cy="4191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bccf0844c4c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1825" y="4924425"/>
            <a:ext cx="133350" cy="1714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3924398044b29"/>
          <a:srcRect xmlns:a="http://schemas.openxmlformats.org/drawingml/2006/main" l="45028" t="-29032" r="4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5248275"/>
            <a:ext cx="819150" cy="333375"/>
          </a:xfrm>
          <a:prstGeom xmlns:a="http://schemas.openxmlformats.org/drawingml/2006/main" prst="rect">
            <a:avLst/>
          </a:prstGeom>
        </p:spPr>
      </p:pic>
      <p:pic>
        <p:nvPicPr>
          <p:cNvPr id="72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e39b7f08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2006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e39b7f08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5435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e39b7f08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58864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e39b7f08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22935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ae39b7f08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57225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71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456bd71ca4e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0e4a3ffd2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98971b62e4c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55417695f4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Misión y visión alinean el valor del proyecto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 propuesta conecta la necesidad de Martini Cell con un resultado concreto y validable.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Valor para Martini Cell: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Trazabilidad completa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Menor trabajo manual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Respuestas más claras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Decisiones con datos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Misión del proyecto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Visión compartida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Valor esperado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2637c5b834e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Digitalizar el flujo principal de una reparación mediante un MVP web.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Centralizar registros, estados, tiempos, evidencias y operación.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la trazabilidad desde el ingreso del equipo hasta su cierre.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Facilitar el trabajo interno, la consulta y decisiones con información confiable.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Reducir trabajo manual y entregar respuestas claras al cliente.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Mejorar el control técnico, operacional y comercial del servicio.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ede0ef36e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430bb898547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86000"/>
            <a:ext cx="11049000" cy="4762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29a60e1b84a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810250"/>
            <a:ext cx="11049000" cy="9525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5e1465bfd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000375"/>
            <a:ext cx="3492400" cy="1514475"/>
          </a:xfrm>
          <a:prstGeom xmlns:a="http://schemas.openxmlformats.org/drawingml/2006/main" prst="rect">
            <a:avLst/>
          </a:prstGeom>
        </p:spPr>
      </p:pic>
      <p:pic>
        <p:nvPicPr>
          <p:cNvPr id="7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47495bc79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3000375"/>
            <a:ext cx="3492549" cy="1514475"/>
          </a:xfrm>
          <a:prstGeom xmlns:a="http://schemas.openxmlformats.org/drawingml/2006/main" prst="rect">
            <a:avLst/>
          </a:prstGeom>
        </p:spPr>
      </p:pic>
      <p:pic>
        <p:nvPicPr>
          <p:cNvPr id="7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5e1465bfd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3000375"/>
            <a:ext cx="3492400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F9B932-DB3E-4EAE-B536-A7020C3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 MVP digitaliza el servicio de principio a fin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719E183-821A-48EA-B6AC-C2EB925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09CB0C-FD8A-4A40-AED1-475D121A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Desarrollar una plataforma web que centralice el flujo principal del servicio técnico, desde el ingreso del equipo hasta su cierre.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F94A703-5C11-4299-8823-2C488BF7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288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Ingreso</a:t>
            </a:r>
          </a:p>
        </p:txBody>
      </p:sp>
      <p:pic>
        <p:nvPicPr>
          <p:cNvPr id="7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08ff0dc1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836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4757C96-2011-4855-9B72-7F536A4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2887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Orden</a:t>
            </a:r>
          </a:p>
        </p:txBody>
      </p:sp>
      <p:pic>
        <p:nvPicPr>
          <p:cNvPr id="7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08ff0dc1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3812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D98711-65A6-41B0-A1BF-106746B8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28875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Diagnóstico</a:t>
            </a:r>
          </a:p>
        </p:txBody>
      </p:sp>
      <p:pic>
        <p:nvPicPr>
          <p:cNvPr id="8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08ff0dc1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883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03D1DD-74EB-4CA6-AEEF-4F431908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Reparación</a:t>
            </a:r>
          </a:p>
        </p:txBody>
      </p:sp>
      <p:pic>
        <p:nvPicPr>
          <p:cNvPr id="8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08ff0dc1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71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ACE69D-DE89-420C-9257-9E437960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Seguimiento</a:t>
            </a:r>
          </a:p>
        </p:txBody>
      </p:sp>
      <p:pic>
        <p:nvPicPr>
          <p:cNvPr id="8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08ff0dc146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10787" y="2438400"/>
            <a:ext cx="104775" cy="171450"/>
          </a:xfrm>
          <a:prstGeom xmlns:a="http://schemas.openxmlformats.org/drawingml/2006/main" prst="rect">
            <a:avLst/>
          </a:prstGeom>
        </p:spPr>
      </p:pic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1A46A6F-1043-4809-933C-D1C7F9B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288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Cierre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98CE1C-714E-4EEC-A646-A993A4C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" y="6019800"/>
            <a:ext cx="1116139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 i="0" u="none">
                <a:solidFill>
                  <a:srgbClr val="FBBF24"/>
                </a:solidFill>
                <a:latin typeface="Poppins"/>
                <a:ea typeface="Poppins"/>
                <a:cs typeface="Poppins"/>
              </a:rPr>
              <a:t>Componente Experimental: Machine Learning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5E6C1AB-2311-4060-BD31-15C026BA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53175"/>
            <a:ext cx="10629900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FCD34D"/>
                </a:solidFill>
                <a:latin typeface="Inter"/>
                <a:ea typeface="Inter"/>
                <a:cs typeface="Inter"/>
              </a:rPr>
              <a:t>La estimación del tiempo técnico se integrará solo si existen datos suficientes y supera una línea base simple.</a:t>
            </a:r>
          </a:p>
        </p:txBody>
      </p:sp>
      <p:pic>
        <p:nvPicPr>
          <p:cNvPr id="8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eacbe58724b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89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c3d7ff755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7475" y="2428875"/>
            <a:ext cx="219075" cy="190500"/>
          </a:xfrm>
          <a:prstGeom xmlns:a="http://schemas.openxmlformats.org/drawingml/2006/main" prst="rect">
            <a:avLst/>
          </a:prstGeom>
        </p:spPr>
      </p:pic>
      <p:pic>
        <p:nvPicPr>
          <p:cNvPr id="9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c912c13d7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2925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1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444ab188f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2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d49b3d61244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6300" y="2428875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9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8a6cebe9743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2428875"/>
            <a:ext cx="17145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6882313-22BA-4E2D-8821-E9943AB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429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ADE1D33-9755-4C2A-9049-AC1B302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Administración centralizada de Clientes, Equipos y Órdenes de servicio.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ED3F912-4FD7-4BEE-B9F3-7AFE4B7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200400"/>
            <a:ext cx="3247124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Trazabilidad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71D4E01-C831-46BB-8537-64E5E60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675" y="3629025"/>
            <a:ext cx="309249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 de Estados, Historial, Tiempos (técnico/espera) y Evidencias fotográficas.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50BEB16-3259-4236-93C2-1BC425D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200400"/>
            <a:ext cx="324696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Operación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E6201FC-5FBB-4810-95A6-467F214D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975" y="3629025"/>
            <a:ext cx="309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Repuestos, Proveedores, Costos, Precios, Márgenes y Garantías.</a:t>
            </a:r>
          </a:p>
        </p:txBody>
      </p:sp>
      <p:pic>
        <p:nvPicPr>
          <p:cNvPr id="100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79debc0f44f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4948237"/>
            <a:ext cx="219075" cy="285750"/>
          </a:xfrm>
          <a:prstGeom xmlns:a="http://schemas.openxmlformats.org/drawingml/2006/main" prst="rect">
            <a:avLst/>
          </a:prstGeom>
        </p:spPr>
      </p:pic>
      <p:pic>
        <p:nvPicPr>
          <p:cNvPr id="101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ebe2332a643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948237"/>
            <a:ext cx="323850" cy="285750"/>
          </a:xfrm>
          <a:prstGeom xmlns:a="http://schemas.openxmlformats.org/drawingml/2006/main" prst="rect">
            <a:avLst/>
          </a:prstGeom>
        </p:spPr>
      </p:pic>
      <p:pic>
        <p:nvPicPr>
          <p:cNvPr id="10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ded0d94a1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675" y="6067425"/>
            <a:ext cx="152400" cy="17145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8977872c644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248025"/>
            <a:ext cx="266700" cy="209550"/>
          </a:xfrm>
          <a:prstGeom xmlns:a="http://schemas.openxmlformats.org/drawingml/2006/main" prst="rect">
            <a:avLst/>
          </a:prstGeom>
        </p:spPr>
      </p:pic>
      <p:pic>
        <p:nvPicPr>
          <p:cNvPr id="104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8b7f8bfd44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49675" y="32480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05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d9e2b31c44a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7975" y="3248025"/>
            <a:ext cx="161925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6F0E151-B10E-419F-83C4-F9C0D313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870358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Portal Cliente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ABCFD7-62D5-4657-9DB3-415A9FC3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72075"/>
            <a:ext cx="27336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Consulta del estado mediante código único.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2F456E77-43D7-4A3A-B8F7-FDF91EE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0125"/>
            <a:ext cx="3570446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Decisiones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A617048-6F40-4A82-8061-2359F17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72075"/>
            <a:ext cx="34004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Indicadores e Índice de viabilidad (reglas explicables).</a:t>
            </a:r>
          </a:p>
        </p:txBody>
      </p:sp>
    </p:spTree>
    <p:extLst>
      <p:ext uri="{BB962C8B-B14F-4D97-AF65-F5344CB8AC3E}">
        <p14:creationId xmlns:p14="http://schemas.microsoft.com/office/powerpoint/2010/main" val="1060136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7e5ec1856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f312fd3c54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532cac8894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3a4e97537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Seis objetivos delimitan un MVP realizable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 general: centralizar y mantener la trazabilidad de los servicios técnicos, apoyar la operación y entregar información confiable para decidir.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Fuera del alcance: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Diagnóstico autónomo por IA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Digitalizar y trazar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Controlar la operación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Apoyar decisiones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52ab13e864c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Registrar clientes, equipos y órdenes mediante un identificador único.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Mantener estados, tiempos, diagnósticos, evidencias, resultados y consulta por código.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Relacionar repuestos y proveedores con cada reparación.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Controlar costos, precios, márgenes y garantías.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Generar indicadores e índice de viabilidad mediante reglas explicables.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Evaluar ML para tiempo técnico solo cuando los datos lo permitan.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ef433336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824492db3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76850"/>
            <a:ext cx="11049000" cy="947737"/>
          </a:xfrm>
          <a:prstGeom xmlns:a="http://schemas.openxmlformats.org/drawingml/2006/main" prst="rect">
            <a:avLst/>
          </a:prstGeom>
        </p:spPr>
      </p:pic>
      <p:pic>
        <p:nvPicPr>
          <p:cNvPr id="7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3e994906e42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2da5c888a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3281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9c5d9b712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5062" y="1428750"/>
            <a:ext cx="2583656" cy="2143125"/>
          </a:xfrm>
          <a:prstGeom xmlns:a="http://schemas.openxmlformats.org/drawingml/2006/main" prst="rect">
            <a:avLst/>
          </a:prstGeom>
        </p:spPr>
      </p:pic>
      <p:pic>
        <p:nvPicPr>
          <p:cNvPr id="7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9c5d9b712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6843" y="1428750"/>
            <a:ext cx="2583656" cy="2143125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767DCE2-6CC8-4F3E-85CF-4060EC7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El proyecto integra competencias e intereses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974CA72-8DB4-4914-AF30-59D16AD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C1F22D-43CA-4A34-86FA-D757FD7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0" i="0" u="none">
                <a:solidFill>
                  <a:srgbClr val="F8FAFC"/>
                </a:solidFill>
                <a:latin typeface="Inter Medium"/>
                <a:ea typeface="Inter Medium"/>
                <a:cs typeface="Inter Medium"/>
              </a:rPr>
              <a:t>Cada competencia se aplica en evidencias concretas del diseño, desarrollo y validación.</a:t>
            </a:r>
          </a:p>
        </p:txBody>
      </p:sp>
      <p:pic>
        <p:nvPicPr>
          <p:cNvPr id="8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a0bae75b3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4100" y="4257675"/>
            <a:ext cx="7543800" cy="4953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C217C4-9830-4909-AE44-087A8AA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01" y="5476875"/>
            <a:ext cx="11181397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 u="none">
                <a:solidFill>
                  <a:srgbClr val="94A3B8"/>
                </a:solidFill>
                <a:latin typeface="Poppins"/>
                <a:ea typeface="Poppins"/>
                <a:cs typeface="Poppins"/>
              </a:rPr>
              <a:t>Intereses profesionales aplicados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D7F4AC-33FA-49B8-837D-12652CC3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0"/>
            <a:ext cx="10648950" cy="214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87"/>
              </a:lnSpc>
              <a:buNone/>
            </a:pPr>
            <a:r>
              <a:rPr sz="1125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Juan: datos y ciberseguridad  |  Oscar: backend e integración  |  Rafael: frontend, UX/UI y usabilidad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4A54DE5-2C9E-4E35-9EF0-7D9780F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Gestión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EE8EF3-CBCE-4909-A93D-7358A75D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306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286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Datos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8BA188-759D-4FD2-9EC6-D0F7893A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7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95275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Software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E5B081A-FCD4-4590-8C71-16CBACAE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868" y="1628775"/>
            <a:ext cx="2292786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476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Calidad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7D42FA7-F0A1-4A56-A2DB-B14D2ED1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Problema real</a:t>
            </a:r>
          </a:p>
        </p:txBody>
      </p:sp>
      <p:pic>
        <p:nvPicPr>
          <p:cNvPr id="91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a4720cc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124BF28-C4B7-488B-AD83-1DA81DF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0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Requerimientos</a:t>
            </a:r>
          </a:p>
        </p:txBody>
      </p:sp>
      <p:pic>
        <p:nvPicPr>
          <p:cNvPr id="9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a4720cc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D2EB93-48FB-4D7F-B716-604A07A1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4100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Diseño</a:t>
            </a:r>
          </a:p>
        </p:txBody>
      </p:sp>
      <p:pic>
        <p:nvPicPr>
          <p:cNvPr id="9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a4720cc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7A7DCE-A9AF-4AED-BE4B-3AE9FF9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41007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Desarrollo</a:t>
            </a:r>
          </a:p>
        </p:txBody>
      </p:sp>
      <p:pic>
        <p:nvPicPr>
          <p:cNvPr id="9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a4720cc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53B7BC-A1E4-4365-874A-AECC130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007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Pruebas</a:t>
            </a:r>
          </a:p>
        </p:txBody>
      </p:sp>
      <p:pic>
        <p:nvPicPr>
          <p:cNvPr id="9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9a4720cc743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44196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D0E5F46-BB76-4C4C-81A8-FE098248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100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</a:rPr>
              <a:t>Validación</a:t>
            </a:r>
          </a:p>
        </p:txBody>
      </p:sp>
      <p:pic>
        <p:nvPicPr>
          <p:cNvPr id="10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751ae43dc42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10C0976-6C68-49CE-81F3-2A618DD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Planificación.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1C9FBE1-4B47-47CB-8C16-450A294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Priorización.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A292B0B-F477-4FC8-86B9-6CB7E7E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4B3298A-B79E-4953-8143-DEE7631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Gestión de riesgos.</a:t>
            </a:r>
          </a:p>
        </p:txBody>
      </p:sp>
      <p:pic>
        <p:nvPicPr>
          <p:cNvPr id="10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f3f88a682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1676400"/>
            <a:ext cx="152400" cy="17145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932EC26-253A-4450-855F-67C4FA8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de entidades.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04B9FA3-A2E7-4299-A505-C32DD0A6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Relaciones de modelo.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C939604-8104-472A-9380-1CC246FE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686050"/>
            <a:ext cx="191690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Información estructurada y escalable.</a:t>
            </a:r>
          </a:p>
        </p:txBody>
      </p:sp>
      <p:pic>
        <p:nvPicPr>
          <p:cNvPr id="110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4c96b9b7d4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1676400"/>
            <a:ext cx="219075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36948D7E-F090-431B-BDFB-C3E82D1D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Frontend.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2C1FF20-CC9F-4EDF-A8F4-3591855B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 / API.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84FAE25-15F9-4322-8BAC-BF3024C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Persistencia.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02533E0-602D-4B94-8BF7-2DDE640F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7" y="30289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Integración.</a:t>
            </a:r>
          </a:p>
        </p:txBody>
      </p:sp>
      <p:pic>
        <p:nvPicPr>
          <p:cNvPr id="115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d5f383aeb42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1676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0118572-6B27-494C-8B8F-401966C4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0002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Criterios de aceptación.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5157778-4B69-4EA6-8792-F9FED26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3431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Pruebas funcionales.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60F4AA5-46FA-48D2-9023-CD914216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8" y="2686050"/>
            <a:ext cx="191690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Seguridad y Usabilidad.</a:t>
            </a:r>
          </a:p>
        </p:txBody>
      </p:sp>
      <p:pic>
        <p:nvPicPr>
          <p:cNvPr id="119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0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1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2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3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4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5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93306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6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7" name="Pictur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8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27241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29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5087" y="30670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0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0383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1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381250"/>
            <a:ext cx="95250" cy="152400"/>
          </a:xfrm>
          <a:prstGeom xmlns:a="http://schemas.openxmlformats.org/drawingml/2006/main" prst="rect">
            <a:avLst/>
          </a:prstGeom>
        </p:spPr>
      </p:pic>
      <p:pic>
        <p:nvPicPr>
          <p:cNvPr id="13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1ddb7486944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6868" y="2724150"/>
            <a:ext cx="952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55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2e25dd2a4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428750"/>
            <a:ext cx="5334000" cy="5210175"/>
          </a:xfrm>
          <a:prstGeom xmlns:a="http://schemas.openxmlformats.org/drawingml/2006/main" prst="rect">
            <a:avLst/>
          </a:prstGeom>
        </p:spPr>
      </p:pic>
      <p:pic>
        <p:nvPicPr>
          <p:cNvPr id="4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761d71b8b4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428750"/>
            <a:ext cx="5334000" cy="5210175"/>
          </a:xfrm>
          <a:prstGeom xmlns:a="http://schemas.openxmlformats.org/drawingml/2006/main" prst="rect">
            <a:avLst/>
          </a:prstGeom>
        </p:spPr>
      </p:pic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b4ca9cc7446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5591175"/>
            <a:ext cx="4838700" cy="800100"/>
          </a:xfrm>
          <a:prstGeom xmlns:a="http://schemas.openxmlformats.org/drawingml/2006/main" prst="rect">
            <a:avLst/>
          </a:prstGeom>
        </p:spPr>
      </p:pic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5d7fe566441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28850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68be1137d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962275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88add7fe347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695700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6df916fbb4f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4429125"/>
            <a:ext cx="4838700" cy="352425"/>
          </a:xfrm>
          <a:prstGeom xmlns:a="http://schemas.openxmlformats.org/drawingml/2006/main" prst="rect">
            <a:avLst/>
          </a:prstGeom>
        </p:spPr>
      </p:pic>
      <p:pic>
        <p:nvPicPr>
          <p:cNvPr id="5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c689ce4fd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228850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a2ec1dc6f4a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981325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fa8c946d9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3733800"/>
            <a:ext cx="4838700" cy="371475"/>
          </a:xfrm>
          <a:prstGeom xmlns:a="http://schemas.openxmlformats.org/drawingml/2006/main" prst="rect">
            <a:avLst/>
          </a:prstGeom>
        </p:spPr>
      </p:pic>
      <p:pic>
        <p:nvPicPr>
          <p:cNvPr id="5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c33fd3884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4486275"/>
            <a:ext cx="4838700" cy="352425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90BB17A-1B88-4AEE-9DFE-C519490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Kanban controla el MVP; CRISP-DM guía el experimento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A92F2E-039C-43E5-8F71-651996B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365B54-C870-49AC-93BB-CBE8E66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" y="1676400"/>
            <a:ext cx="508063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KANBAN (Desarrollo de Software)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804DC7-6AD8-4DAF-9FA4-9D4665B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182" y="1676400"/>
            <a:ext cx="5080635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19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</a:rPr>
              <a:t>CRISP-DM (Datos y ML)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61AE342-F792-4855-AB10-E349D9D7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96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Backlog priorizado (Épicas + Historias)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30EF4D1-6B6E-41E8-B3CA-14DD93B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62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Límites WIP (Work In Progress)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0F501C9-BFEC-49DA-A52E-39C0A250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0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Definition of Done (DoD)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B36684-326F-44CF-88DF-9272CA58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483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Releases incrementales con evidencia</a:t>
            </a:r>
          </a:p>
        </p:txBody>
      </p:sp>
      <p:pic>
        <p:nvPicPr>
          <p:cNvPr id="6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4201644334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724025"/>
            <a:ext cx="266700" cy="20955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1E7ED3F-2C06-4AAF-9A85-5DC4374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41007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EP-10 avanza en paralelo y solo se integra si los datos y las métricas justifican su uso.</a:t>
            </a:r>
          </a:p>
        </p:txBody>
      </p:sp>
      <p:pic>
        <p:nvPicPr>
          <p:cNvPr id="6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520cca0a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269557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520cca0a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3429000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520cca0a47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416242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c307954ff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271462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c307954ff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467100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2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c307954ff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4219575"/>
            <a:ext cx="114300" cy="152400"/>
          </a:xfrm>
          <a:prstGeom xmlns:a="http://schemas.openxmlformats.org/drawingml/2006/main" prst="rect">
            <a:avLst/>
          </a:prstGeom>
        </p:spPr>
      </p:pic>
      <p:pic>
        <p:nvPicPr>
          <p:cNvPr id="73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34e07f70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0577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4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34e07f70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400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5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34e07f70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57435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6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34e07f70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6086475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55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8a30b797146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c757a00b446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819c4c63a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c79055ba7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Roles claros aseguran responsabilidad y colaboración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Marcos Martini valida el proceso, las reglas y los resultados; el equipo ejecuta tareas visibles y compartidas.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Colaboración verificable: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Tablero y responsables visibles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Commits individuales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Validaciones con Marcos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Exposición equitativa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Juan Valencia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Oscar Contreras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Rafael Muñoz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3dcc31f864b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Seguimiento Kanban, prioridades, WIP y bloqueos.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Riesgos, evidencias y Definition of Done.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Backend, modelo de datos e integraciones.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Preparación de datos y pruebas técnicas.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Frontend, prototipos y experiencia de usuario.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Diseño responsivo, usabilidad e integración.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07f2f42c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47dd57ac74f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686425"/>
            <a:ext cx="11049000" cy="695325"/>
          </a:xfrm>
          <a:prstGeom xmlns:a="http://schemas.openxmlformats.org/drawingml/2006/main" prst="rect">
            <a:avLst/>
          </a:prstGeom>
        </p:spPr>
      </p:pic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3f91de4df42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228850"/>
            <a:ext cx="3492400" cy="3457575"/>
          </a:xfrm>
          <a:prstGeom xmlns:a="http://schemas.openxmlformats.org/drawingml/2006/main" prst="rect">
            <a:avLst/>
          </a:prstGeom>
        </p:spPr>
      </p:pic>
      <p:pic>
        <p:nvPicPr>
          <p:cNvPr id="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dfae56f9447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9650" y="2228850"/>
            <a:ext cx="3492549" cy="3457575"/>
          </a:xfrm>
          <a:prstGeom xmlns:a="http://schemas.openxmlformats.org/drawingml/2006/main" prst="rect">
            <a:avLst/>
          </a:prstGeom>
        </p:spPr>
      </p:pic>
      <p:pic>
        <p:nvPicPr>
          <p:cNvPr id="4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60350581647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7950" y="2228850"/>
            <a:ext cx="3492400" cy="3457575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9AB9FC-B6C7-471A-B542-26454F0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Diez épicas ordenan el alcance funcional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2DF1FF-B5D4-49F7-9BE2-DBC58B1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EE73F95-3C28-4299-875C-C2F3079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350" b="1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Las épicas organizan el backlog y permiten desarrollar el MVP de forma incremental y verificable.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C7C2BE-48E5-4F1E-A87B-22F8FE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388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5240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 u="none">
                <a:solidFill>
                  <a:srgbClr val="EF4444"/>
                </a:solidFill>
                <a:latin typeface="Inter SemiBold"/>
                <a:ea typeface="Inter SemiBold"/>
                <a:cs typeface="Inter SemiBold"/>
              </a:rPr>
              <a:t>Condición y exclusiones: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AADBA3-0450-4F1A-916A-0422A3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38825"/>
            <a:ext cx="220027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EP-10 no bloquea el MVP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872FCF-11CA-4311-912C-DCBC520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38825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diagnóstico ni reparación automática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F2DEE0-562D-4AF3-AB12-9E8D778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38825"/>
            <a:ext cx="237172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WhatsApp obligatorio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AF4AF7-679C-41B6-9A00-805E4458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7" y="6038850"/>
            <a:ext cx="14573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Sin facturación electrónica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2B929C-3B16-4B46-85BA-EF34AC7B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1. Núcleo del servicio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71DE5E5-9949-4DB9-AD56-B054CB7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048C5C-3BE3-43B2-A93D-9F2100D6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369" y="2476500"/>
            <a:ext cx="3147112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2. Gestión operacional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74A91F-CBA0-4190-BA5A-67A06140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300" y="2933700"/>
            <a:ext cx="29972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570C12D-86A6-4B0E-9992-9227995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672" y="2476500"/>
            <a:ext cx="314695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3. Inteligencia y análisis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54AA2E3-3646-46B0-B5CF-80C63B4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00" y="2933700"/>
            <a:ext cx="29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8730805cd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58578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3FAFC67-9BD9-4A7D-8EC5-ADEE083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EP-01 Acceso y seguridad · EP-02 Clientes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24A438-3F86-41E2-9F0A-30192F82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EP-03 Equipos · EP-04 Órdenes · EP-05 Trazabilidad y consulta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5B1FBCD-EE40-4CFE-8A72-021572D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086100"/>
            <a:ext cx="2730549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EP-06 Repuestos y proveedores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FD94C2-59E4-4775-8016-63E3F973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000" y="3886200"/>
            <a:ext cx="273054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EP-07 Costos y márgenes · EP-08 Garantías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47088F-8904-4DE9-8687-334616E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086100"/>
            <a:ext cx="273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EP-09 Indicadores e índice de viabilidad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B96CC81-67F7-4B6D-AB61-3259AA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300" y="3657600"/>
            <a:ext cx="273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EP-10 Estimación del tiempo técnico, condicionada a los datos</a:t>
            </a:r>
          </a:p>
        </p:txBody>
      </p:sp>
      <p:pic>
        <p:nvPicPr>
          <p:cNvPr id="6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34671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5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6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7300" y="39243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7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124200"/>
            <a:ext cx="133350" cy="152400"/>
          </a:xfrm>
          <a:prstGeom xmlns:a="http://schemas.openxmlformats.org/drawingml/2006/main" prst="rect">
            <a:avLst/>
          </a:prstGeom>
        </p:spPr>
      </p:pic>
      <p:pic>
        <p:nvPicPr>
          <p:cNvPr id="68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e732de80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5600" y="3695700"/>
            <a:ext cx="13335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48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be34899174a05"/>
          <a:stretch xmlns:a="http://schemas.openxmlformats.org/drawingml/2006/main"/>
        </p:blipFill>
        <p:spPr>
          <a:xfrm xmlns:a="http://schemas.openxmlformats.org/drawingml/2006/main">
            <a:off x="952500" y="0"/>
            <a:ext cx="10287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30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E2EA60-0D52-4E0E-8EF4-464F49C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Carta Gantt: 18 semanas de trabajo verificable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2FBA4D-A196-4201-AD34-E7D1674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510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  <a:gridCol w="420688"/>
              </a:tblGrid>
              <a:tr h="295275">
                <a:tc rowSpan="2"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Actividad</a:t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1</a:t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E2EFD9"/>
                    </a:solidFill>
                  </a:tcPr>
                </a:tc>
                <a:tc gridSpan="1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2</a:t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2CB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Fase 3</a:t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  <a:tc hMerge="1"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BE4D5"/>
                    </a:solidFill>
                  </a:tcPr>
                </a:tc>
              </a:tr>
              <a:tr h="295275">
                <a:tc vMerge="1"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95250" marR="762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S9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S10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S11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S12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S13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S14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S15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S16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S17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38" b="1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S18</a:t>
                      </a:r>
                    </a:p>
                  </a:txBody>
                  <a:tcPr marL="38100" marR="38100" marT="19050" marB="19050" anchor="ctr" horzOverflow="clip">
                    <a:solidFill>
                      <a:srgbClr val="F8FAFC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Gestión y seguimiento con Kanban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Levantamiento del proceso y Canvas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Definición de requisitos y alcance del MVP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Planificación, roadmap y riesgos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Arquitectura, modelo de datos y prototipos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Datos del piloto (10 casos)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Base, acceso y roles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Clientes, equipos y órdenes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Estados, tiempos y consulta del cliente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Repuestos, costos, proveedores y garantías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Pruebas y validación continua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Panel e índice de viabilidad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Evaluación ML del tiempo técnico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Integración y estabilización del MVP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</a:tr>
              <a:tr h="300990">
                <a:tc>
                  <a:txBody>
                    <a:bodyPr anchor="ctr"/>
                    <a:lstStyle/>
                    <a:p>
                      <a:pPr algn="l"/>
                      <a:r>
                        <a:rPr sz="938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UAT, despliegue y cierre</a:t>
                      </a:r>
                    </a:p>
                  </a:txBody>
                  <a:tcPr marL="76200" marR="5715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75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/>
                      </a:r>
                    </a:p>
                  </a:txBody>
                  <a:tcPr marL="38100" marR="38100" marT="19050" marB="19050" anchor="ctr" horzOverflow="clip">
                    <a:solidFill>
                      <a:srgbClr val="5982D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647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cb2ef60ae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00250"/>
            <a:ext cx="5334000" cy="1485900"/>
          </a:xfrm>
          <a:prstGeom xmlns:a="http://schemas.openxmlformats.org/drawingml/2006/main" prst="rect">
            <a:avLst/>
          </a:prstGeom>
        </p:spPr>
      </p:pic>
      <p:pic>
        <p:nvPicPr>
          <p:cNvPr id="5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922a0758240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171950"/>
            <a:ext cx="5334000" cy="1438275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6369A9-2E95-41D8-9F88-542235B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61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La Fase 1 deja el proyecto listo para construir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28AA15-73D7-49A8-B329-FB012AF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8FB8D7B-20F8-42B6-B02E-6CF89C1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250"/>
              </a:lnSpc>
              <a:buNone/>
            </a:pPr>
            <a:r>
              <a:rPr sz="1500" b="0" i="0" u="none">
                <a:solidFill>
                  <a:srgbClr val="CBD5E1"/>
                </a:solidFill>
                <a:latin typeface="Inter Medium"/>
                <a:ea typeface="Inter Medium"/>
                <a:cs typeface="Inter Medium"/>
              </a:rPr>
              <a:t>La propuesta reúne definición, diseño técnico, responsabilidades, evidencias y un plan verificable.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12E5BF-1915-49B3-867A-2A88BA09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53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</a:pPr>
            <a:r>
              <a:rPr sz="1200" b="0" i="1" u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Siguiente paso: prototipar, implementar y validar cada incremento con Martini Cell.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B2D64B6-D084-4936-850C-D3F8EF9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Problema respaldado con evidencia real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C2263E-E3DC-4E9E-836D-C7CCC2C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Misión, visión, usuarios y valor alineados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BBE56-FCF2-4007-88A9-3F98643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Objetivos y alcance del MVP definidos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537CBF-F3FB-4EB1-A444-2819703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Kanban y ruta de datos establecidos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4052FC-3C76-4EC2-8B44-2D9C784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Diez épicas organizan el backlog funcional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9EA00B-F0B4-4582-A275-CEBB27F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Arquitectura y seguridad propuestas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2F7AE5-BEBD-4FBB-83EA-EE134EA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Plan de 18 semanas, recursos y riesgos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CBB7FD-A9F6-4F55-B5E4-3AA6852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200" b="0" i="0" u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Evidencias de avance y cierre definidas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4752FA-C2EB-4C01-8B9E-BD3C4338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508063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 u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</a:rPr>
              <a:t>Evidencias de la Fase 1</a:t>
            </a:r>
          </a:p>
        </p:txBody>
      </p:sp>
      <p:pic>
        <p:nvPicPr>
          <p:cNvPr id="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c5a5bbf5d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7984" y="4748212"/>
            <a:ext cx="285750" cy="285750"/>
          </a:xfrm>
          <a:prstGeom xmlns:a="http://schemas.openxmlformats.org/drawingml/2006/main" prst="rect">
            <a:avLst/>
          </a:prstGeom>
        </p:spPr>
      </p:pic>
      <p:pic>
        <p:nvPicPr>
          <p:cNvPr id="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965bbd3be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295525"/>
            <a:ext cx="190500" cy="171450"/>
          </a:xfrm>
          <a:prstGeom xmlns:a="http://schemas.openxmlformats.org/drawingml/2006/main" prst="rect">
            <a:avLst/>
          </a:prstGeom>
        </p:spPr>
      </p:pic>
      <p:pic>
        <p:nvPicPr>
          <p:cNvPr id="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acfd0a65e4e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647950"/>
            <a:ext cx="1276350" cy="247650"/>
          </a:xfrm>
          <a:prstGeom xmlns:a="http://schemas.openxmlformats.org/drawingml/2006/main" prst="rect">
            <a:avLst/>
          </a:prstGeom>
        </p:spPr>
      </p:pic>
      <p:pic>
        <p:nvPicPr>
          <p:cNvPr id="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3a113e9e4e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2647950"/>
            <a:ext cx="628650" cy="247650"/>
          </a:xfrm>
          <a:prstGeom xmlns:a="http://schemas.openxmlformats.org/drawingml/2006/main" prst="rect">
            <a:avLst/>
          </a:prstGeom>
        </p:spPr>
      </p:pic>
      <p:pic>
        <p:nvPicPr>
          <p:cNvPr id="6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284b834dd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2647950"/>
            <a:ext cx="857250" cy="247650"/>
          </a:xfrm>
          <a:prstGeom xmlns:a="http://schemas.openxmlformats.org/drawingml/2006/main" prst="rect">
            <a:avLst/>
          </a:prstGeom>
        </p:spPr>
      </p:pic>
      <p:pic>
        <p:nvPicPr>
          <p:cNvPr id="6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689269fff47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2647950"/>
            <a:ext cx="885825" cy="247650"/>
          </a:xfrm>
          <a:prstGeom xmlns:a="http://schemas.openxmlformats.org/drawingml/2006/main" prst="rect">
            <a:avLst/>
          </a:prstGeom>
        </p:spPr>
      </p:pic>
      <p:pic>
        <p:nvPicPr>
          <p:cNvPr id="7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91b89913a4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2990850"/>
            <a:ext cx="914400" cy="247650"/>
          </a:xfrm>
          <a:prstGeom xmlns:a="http://schemas.openxmlformats.org/drawingml/2006/main" prst="rect">
            <a:avLst/>
          </a:prstGeom>
        </p:spPr>
      </p:pic>
      <p:pic>
        <p:nvPicPr>
          <p:cNvPr id="7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d51ad5da0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2990850"/>
            <a:ext cx="1190625" cy="247650"/>
          </a:xfrm>
          <a:prstGeom xmlns:a="http://schemas.openxmlformats.org/drawingml/2006/main" prst="rect">
            <a:avLst/>
          </a:prstGeom>
        </p:spPr>
      </p:pic>
      <p:pic>
        <p:nvPicPr>
          <p:cNvPr id="7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0d969bd1d48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9675" y="2990850"/>
            <a:ext cx="1057275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255B9A3-60A8-4593-A37D-A391D55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875234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54CD255-3CBF-43BF-9EF7-F61843B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1968996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Definición validada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8D7D781-4C78-4A46-84F7-EE0AE0F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457700"/>
            <a:ext cx="222051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575"/>
              </a:lnSpc>
              <a:buNone/>
            </a:pPr>
            <a:r>
              <a:rPr sz="1050" b="0" i="0" u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</a:rPr>
              <a:t>FASE 2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4F0AF4-7F97-466C-BD29-4EE12FED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34" y="4657725"/>
            <a:ext cx="2331541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Construcción del MVP</a:t>
            </a:r>
          </a:p>
        </p:txBody>
      </p:sp>
      <p:pic>
        <p:nvPicPr>
          <p:cNvPr id="77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8575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8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2004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79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5433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0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38862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2291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2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5720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3" name="Picture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4914900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84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a325759440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5257800"/>
            <a:ext cx="152400" cy="15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39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2026-09-02T02:03:05.6320000Z</dcterms:created>
  <dcterms:modified xsi:type="dcterms:W3CDTF">2026-09-02T02:03:05.6320000Z</dcterms:modified>
</coreProperties>
</file>